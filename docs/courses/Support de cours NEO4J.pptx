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19" d="100"/>
          <a:sy n="119" d="100"/>
        </p:scale>
        <p:origin x="-394" y="1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51812641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SLIDES_API779678989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SLIDES_API779678989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SLIDES_API779678989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SLIDES_API779678989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5f760f0248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5f760f0248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5f760f0248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5f760f0248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SLIDES_API779678989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SLIDES_API779678989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5f760f0248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5f760f0248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760f024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760f024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5f760f0248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f760f024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5f760f0248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5f760f0248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5f760f0248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5f760f0248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5f760f0248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5f760f0248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5f760f0248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5f760f0248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5f760f0248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5f760f0248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5f760f0248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5f760f0248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5f760f0248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5f760f0248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5f760f0248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5f760f0248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5f760f0248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5f760f0248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5f760f0248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5f760f0248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5f760f0248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5f760f0248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5f760f0248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5f760f0248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5f760f0248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5f760f0248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5f760f0248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5f760f0248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3d4958c35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3d4958c35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3d4958c359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3d4958c35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3d4958c359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3d4958c35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3d4958c359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3d4958c359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3d4958c359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3d4958c359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3d4958c359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3d4958c359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3d4958c359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33d4958c359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3d4958c359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3d4958c359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3d4958c359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3d4958c359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3d4958c359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3d4958c359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3d4958c359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3d4958c359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3d4958c359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33d4958c359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3d4958c359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33d4958c359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3d4958c359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33d4958c359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3d4958c359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3d4958c359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3d4958c359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33d4958c359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3d4958c359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3d4958c359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3d4958c359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33d4958c359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3d4958c359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3d4958c359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2.jp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2.jp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2.jp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2.jpg"/></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title="Introduction à Neo4j Graph Data Science"/>
          <p:cNvSpPr txBox="1"/>
          <p:nvPr/>
        </p:nvSpPr>
        <p:spPr>
          <a:xfrm>
            <a:off x="1896900" y="1933375"/>
            <a:ext cx="6222000" cy="1000500"/>
          </a:xfrm>
          <a:prstGeom prst="rect">
            <a:avLst/>
          </a:prstGeom>
          <a:noFill/>
          <a:ln>
            <a:noFill/>
          </a:ln>
        </p:spPr>
        <p:txBody>
          <a:bodyPr spcFirstLastPara="1" wrap="square" lIns="91425" tIns="91425" rIns="91425" bIns="91425" anchor="t" anchorCtr="0">
            <a:normAutofit/>
          </a:bodyPr>
          <a:lstStyle/>
          <a:p>
            <a:pPr marL="0" lvl="0" indent="0" algn="ctr" rtl="0">
              <a:lnSpc>
                <a:spcPct val="70000"/>
              </a:lnSpc>
              <a:spcBef>
                <a:spcPts val="0"/>
              </a:spcBef>
              <a:spcAft>
                <a:spcPts val="0"/>
              </a:spcAft>
              <a:buSzPts val="935"/>
              <a:buNone/>
            </a:pPr>
            <a:r>
              <a:rPr lang="fr" sz="3720" b="1">
                <a:solidFill>
                  <a:schemeClr val="lt1"/>
                </a:solidFill>
              </a:rPr>
              <a:t>Neo4j Graph Database : </a:t>
            </a:r>
            <a:endParaRPr sz="3720" b="1">
              <a:solidFill>
                <a:schemeClr val="lt1"/>
              </a:solidFill>
            </a:endParaRPr>
          </a:p>
          <a:p>
            <a:pPr marL="0" lvl="0" indent="0" algn="ctr" rtl="0">
              <a:lnSpc>
                <a:spcPct val="70000"/>
              </a:lnSpc>
              <a:spcBef>
                <a:spcPts val="0"/>
              </a:spcBef>
              <a:spcAft>
                <a:spcPts val="0"/>
              </a:spcAft>
              <a:buSzPts val="935"/>
              <a:buNone/>
            </a:pPr>
            <a:r>
              <a:rPr lang="fr" sz="3720" b="1">
                <a:solidFill>
                  <a:schemeClr val="lt1"/>
                </a:solidFill>
              </a:rPr>
              <a:t>Les fondamentaux</a:t>
            </a:r>
            <a:endParaRPr sz="3720" b="1">
              <a:solidFill>
                <a:schemeClr val="lt1"/>
              </a:solidFill>
            </a:endParaRPr>
          </a:p>
        </p:txBody>
      </p:sp>
      <p:pic>
        <p:nvPicPr>
          <p:cNvPr id="55" name="Google Shape;55;p13"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title="Qu'est-ce que Neo4j?"/>
          <p:cNvSpPr txBox="1"/>
          <p:nvPr/>
        </p:nvSpPr>
        <p:spPr>
          <a:xfrm>
            <a:off x="2428450" y="184475"/>
            <a:ext cx="5127900" cy="571500"/>
          </a:xfrm>
          <a:prstGeom prst="rect">
            <a:avLst/>
          </a:prstGeom>
          <a:noFill/>
          <a:ln>
            <a:noFill/>
          </a:ln>
        </p:spPr>
        <p:txBody>
          <a:bodyPr spcFirstLastPara="1" wrap="square" lIns="91425" tIns="91425" rIns="91425" bIns="91425" anchor="t" anchorCtr="0">
            <a:normAutofit fontScale="77500" lnSpcReduction="10000"/>
          </a:bodyPr>
          <a:lstStyle/>
          <a:p>
            <a:pPr marL="0" lvl="0" indent="0" algn="ctr" rtl="0">
              <a:spcBef>
                <a:spcPts val="0"/>
              </a:spcBef>
              <a:spcAft>
                <a:spcPts val="0"/>
              </a:spcAft>
              <a:buNone/>
            </a:pPr>
            <a:r>
              <a:rPr lang="fr" sz="3600" b="1">
                <a:solidFill>
                  <a:schemeClr val="lt1"/>
                </a:solidFill>
              </a:rPr>
              <a:t>Ce que vous allez apprendre</a:t>
            </a:r>
            <a:endParaRPr sz="3600" b="1">
              <a:solidFill>
                <a:schemeClr val="lt1"/>
              </a:solidFill>
            </a:endParaRPr>
          </a:p>
        </p:txBody>
      </p:sp>
      <p:sp>
        <p:nvSpPr>
          <p:cNvPr id="61" name="Google Shape;61;p14"/>
          <p:cNvSpPr txBox="1"/>
          <p:nvPr/>
        </p:nvSpPr>
        <p:spPr>
          <a:xfrm>
            <a:off x="145900" y="1995925"/>
            <a:ext cx="4987200" cy="3017400"/>
          </a:xfrm>
          <a:prstGeom prst="rect">
            <a:avLst/>
          </a:prstGeom>
          <a:noFill/>
          <a:ln>
            <a:noFill/>
          </a:ln>
        </p:spPr>
        <p:txBody>
          <a:bodyPr spcFirstLastPara="1" wrap="square" lIns="91425" tIns="91425" rIns="91425" bIns="91425" anchor="t" anchorCtr="0">
            <a:normAutofit lnSpcReduction="10000"/>
          </a:bodyPr>
          <a:lstStyle/>
          <a:p>
            <a:pPr marL="457200" lvl="0" indent="-371475" algn="l" rtl="0">
              <a:spcBef>
                <a:spcPts val="0"/>
              </a:spcBef>
              <a:spcAft>
                <a:spcPts val="0"/>
              </a:spcAft>
              <a:buClr>
                <a:schemeClr val="lt1"/>
              </a:buClr>
              <a:buSzPts val="2250"/>
              <a:buChar char="●"/>
            </a:pPr>
            <a:r>
              <a:rPr lang="fr" sz="2250">
                <a:solidFill>
                  <a:schemeClr val="lt1"/>
                </a:solidFill>
              </a:rPr>
              <a:t>Qu’est ce que Neo4j et une base de données graphe.</a:t>
            </a:r>
            <a:endParaRPr sz="2250">
              <a:solidFill>
                <a:schemeClr val="lt1"/>
              </a:solidFill>
            </a:endParaRPr>
          </a:p>
          <a:p>
            <a:pPr marL="457200" lvl="0" indent="-371475" algn="l" rtl="0">
              <a:spcBef>
                <a:spcPts val="0"/>
              </a:spcBef>
              <a:spcAft>
                <a:spcPts val="0"/>
              </a:spcAft>
              <a:buClr>
                <a:schemeClr val="lt1"/>
              </a:buClr>
              <a:buSzPts val="2250"/>
              <a:buChar char="●"/>
            </a:pPr>
            <a:r>
              <a:rPr lang="fr" sz="2250">
                <a:solidFill>
                  <a:schemeClr val="lt1"/>
                </a:solidFill>
              </a:rPr>
              <a:t>Les éléments de base de Neo4j graph database.</a:t>
            </a:r>
            <a:endParaRPr sz="2250">
              <a:solidFill>
                <a:schemeClr val="lt1"/>
              </a:solidFill>
            </a:endParaRPr>
          </a:p>
          <a:p>
            <a:pPr marL="457200" lvl="0" indent="-371475" algn="l" rtl="0">
              <a:spcBef>
                <a:spcPts val="0"/>
              </a:spcBef>
              <a:spcAft>
                <a:spcPts val="0"/>
              </a:spcAft>
              <a:buClr>
                <a:schemeClr val="lt1"/>
              </a:buClr>
              <a:buSzPts val="2250"/>
              <a:buChar char="●"/>
            </a:pPr>
            <a:r>
              <a:rPr lang="fr" sz="2250">
                <a:solidFill>
                  <a:schemeClr val="lt1"/>
                </a:solidFill>
              </a:rPr>
              <a:t>Les avantages d’utiliser une base de données graphe.</a:t>
            </a:r>
            <a:endParaRPr sz="2250">
              <a:solidFill>
                <a:schemeClr val="lt1"/>
              </a:solidFill>
            </a:endParaRPr>
          </a:p>
          <a:p>
            <a:pPr marL="457200" lvl="0" indent="-371475" algn="l" rtl="0">
              <a:spcBef>
                <a:spcPts val="0"/>
              </a:spcBef>
              <a:spcAft>
                <a:spcPts val="0"/>
              </a:spcAft>
              <a:buClr>
                <a:schemeClr val="lt1"/>
              </a:buClr>
              <a:buSzPts val="2250"/>
              <a:buChar char="●"/>
            </a:pPr>
            <a:r>
              <a:rPr lang="fr" sz="2250">
                <a:solidFill>
                  <a:schemeClr val="lt1"/>
                </a:solidFill>
              </a:rPr>
              <a:t>Comment les graphes résolvent les problèmes réels.</a:t>
            </a:r>
            <a:endParaRPr sz="2250">
              <a:solidFill>
                <a:schemeClr val="lt1"/>
              </a:solidFill>
            </a:endParaRPr>
          </a:p>
          <a:p>
            <a:pPr marL="0" lvl="0" indent="0" algn="l" rtl="0">
              <a:spcBef>
                <a:spcPts val="0"/>
              </a:spcBef>
              <a:spcAft>
                <a:spcPts val="0"/>
              </a:spcAft>
              <a:buSzPts val="688"/>
              <a:buNone/>
            </a:pPr>
            <a:endParaRPr sz="2250">
              <a:solidFill>
                <a:schemeClr val="lt1"/>
              </a:solidFill>
            </a:endParaRPr>
          </a:p>
        </p:txBody>
      </p:sp>
      <p:pic>
        <p:nvPicPr>
          <p:cNvPr id="62" name="Google Shape;62;p14"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title="Science des Données par Graphes"/>
          <p:cNvSpPr txBox="1"/>
          <p:nvPr/>
        </p:nvSpPr>
        <p:spPr>
          <a:xfrm>
            <a:off x="2397175" y="62550"/>
            <a:ext cx="4940100" cy="571500"/>
          </a:xfrm>
          <a:prstGeom prst="rect">
            <a:avLst/>
          </a:prstGeom>
          <a:noFill/>
          <a:ln>
            <a:noFill/>
          </a:ln>
        </p:spPr>
        <p:txBody>
          <a:bodyPr spcFirstLastPara="1" wrap="square" lIns="91425" tIns="91425" rIns="91425" bIns="91425" anchor="t" anchorCtr="0">
            <a:normAutofit fontScale="85000" lnSpcReduction="20000"/>
          </a:bodyPr>
          <a:lstStyle/>
          <a:p>
            <a:pPr marL="0" lvl="0" indent="0" algn="ctr" rtl="0">
              <a:spcBef>
                <a:spcPts val="0"/>
              </a:spcBef>
              <a:spcAft>
                <a:spcPts val="0"/>
              </a:spcAft>
              <a:buSzPct val="30555"/>
              <a:buNone/>
            </a:pPr>
            <a:r>
              <a:rPr lang="fr" sz="3600" b="1">
                <a:solidFill>
                  <a:schemeClr val="lt1"/>
                </a:solidFill>
              </a:rPr>
              <a:t>C’est quoi un graphe?</a:t>
            </a:r>
            <a:endParaRPr sz="1900" b="1">
              <a:solidFill>
                <a:schemeClr val="lt1"/>
              </a:solidFill>
            </a:endParaRPr>
          </a:p>
        </p:txBody>
      </p:sp>
      <p:sp>
        <p:nvSpPr>
          <p:cNvPr id="68" name="Google Shape;68;p15"/>
          <p:cNvSpPr txBox="1"/>
          <p:nvPr/>
        </p:nvSpPr>
        <p:spPr>
          <a:xfrm>
            <a:off x="4116875" y="1930625"/>
            <a:ext cx="4830900" cy="1097100"/>
          </a:xfrm>
          <a:prstGeom prst="rect">
            <a:avLst/>
          </a:prstGeom>
          <a:noFill/>
          <a:ln>
            <a:noFill/>
          </a:ln>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fr" sz="2400">
                <a:solidFill>
                  <a:schemeClr val="lt1"/>
                </a:solidFill>
              </a:rPr>
              <a:t>Un graphe montre comment les objets sont reliés les uns aux autres.</a:t>
            </a:r>
            <a:endParaRPr sz="2400">
              <a:solidFill>
                <a:schemeClr val="lt1"/>
              </a:solidFill>
            </a:endParaRPr>
          </a:p>
        </p:txBody>
      </p:sp>
      <p:pic>
        <p:nvPicPr>
          <p:cNvPr id="69" name="Google Shape;69;p15"/>
          <p:cNvPicPr preferRelativeResize="0"/>
          <p:nvPr/>
        </p:nvPicPr>
        <p:blipFill>
          <a:blip r:embed="rId3">
            <a:alphaModFix/>
          </a:blip>
          <a:stretch>
            <a:fillRect/>
          </a:stretch>
        </p:blipFill>
        <p:spPr>
          <a:xfrm>
            <a:off x="152400" y="2120975"/>
            <a:ext cx="3855051" cy="2870125"/>
          </a:xfrm>
          <a:prstGeom prst="rect">
            <a:avLst/>
          </a:prstGeom>
          <a:noFill/>
          <a:ln>
            <a:noFill/>
          </a:ln>
        </p:spPr>
      </p:pic>
      <p:pic>
        <p:nvPicPr>
          <p:cNvPr id="70" name="Google Shape;70;p15" descr="Logo de Sorbonne Data Analytics"/>
          <p:cNvPicPr preferRelativeResize="0"/>
          <p:nvPr/>
        </p:nvPicPr>
        <p:blipFill rotWithShape="1">
          <a:blip r:embed="rId4">
            <a:alphaModFix/>
          </a:blip>
          <a:srcRect/>
          <a:stretch/>
        </p:blipFill>
        <p:spPr>
          <a:xfrm>
            <a:off x="7962775" y="0"/>
            <a:ext cx="1181225" cy="1181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title="Science des Données par Graphes"/>
          <p:cNvSpPr txBox="1"/>
          <p:nvPr/>
        </p:nvSpPr>
        <p:spPr>
          <a:xfrm>
            <a:off x="2459725" y="140700"/>
            <a:ext cx="4908900" cy="571500"/>
          </a:xfrm>
          <a:prstGeom prst="rect">
            <a:avLst/>
          </a:prstGeom>
          <a:noFill/>
          <a:ln>
            <a:noFill/>
          </a:ln>
        </p:spPr>
        <p:txBody>
          <a:bodyPr spcFirstLastPara="1" wrap="square" lIns="91425" tIns="91425" rIns="91425" bIns="91425" anchor="t" anchorCtr="0">
            <a:normAutofit fontScale="55000"/>
          </a:bodyPr>
          <a:lstStyle/>
          <a:p>
            <a:pPr marL="0" lvl="0" indent="0" algn="ctr" rtl="0">
              <a:spcBef>
                <a:spcPts val="0"/>
              </a:spcBef>
              <a:spcAft>
                <a:spcPts val="0"/>
              </a:spcAft>
              <a:buSzPct val="30555"/>
              <a:buNone/>
            </a:pPr>
            <a:r>
              <a:rPr lang="fr" sz="3600" b="1">
                <a:solidFill>
                  <a:schemeClr val="lt1"/>
                </a:solidFill>
              </a:rPr>
              <a:t>Pourquoi les bases de donnée graphe?</a:t>
            </a:r>
            <a:endParaRPr sz="1900" b="1">
              <a:solidFill>
                <a:schemeClr val="lt1"/>
              </a:solidFill>
            </a:endParaRPr>
          </a:p>
        </p:txBody>
      </p:sp>
      <p:sp>
        <p:nvSpPr>
          <p:cNvPr id="76" name="Google Shape;76;p16"/>
          <p:cNvSpPr txBox="1"/>
          <p:nvPr/>
        </p:nvSpPr>
        <p:spPr>
          <a:xfrm>
            <a:off x="587100" y="1917750"/>
            <a:ext cx="4577100" cy="3140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2400">
                <a:solidFill>
                  <a:schemeClr val="lt1"/>
                </a:solidFill>
              </a:rPr>
              <a:t>Point important :</a:t>
            </a:r>
            <a:endParaRPr sz="2400">
              <a:solidFill>
                <a:schemeClr val="lt1"/>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Clr>
                <a:schemeClr val="dk1"/>
              </a:buClr>
              <a:buSzPts val="1100"/>
              <a:buFont typeface="Arial"/>
              <a:buNone/>
            </a:pPr>
            <a:r>
              <a:rPr lang="fr" sz="2400">
                <a:solidFill>
                  <a:schemeClr val="lt1"/>
                </a:solidFill>
              </a:rPr>
              <a:t>Une base de donnée graphe est particulièrement important lorsque les connections entre donnée sont aussi importantes que la donnée elle même.</a:t>
            </a:r>
            <a:endParaRPr sz="2400">
              <a:solidFill>
                <a:schemeClr val="lt1"/>
              </a:solidFill>
            </a:endParaRPr>
          </a:p>
          <a:p>
            <a:pPr marL="0" lvl="0" indent="0" algn="l" rtl="0">
              <a:spcBef>
                <a:spcPts val="0"/>
              </a:spcBef>
              <a:spcAft>
                <a:spcPts val="0"/>
              </a:spcAft>
              <a:buNone/>
            </a:pPr>
            <a:endParaRPr sz="2400">
              <a:solidFill>
                <a:schemeClr val="lt1"/>
              </a:solidFill>
            </a:endParaRPr>
          </a:p>
        </p:txBody>
      </p:sp>
      <p:pic>
        <p:nvPicPr>
          <p:cNvPr id="77" name="Google Shape;77;p16"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title="Science des Données par Graphes"/>
          <p:cNvSpPr txBox="1"/>
          <p:nvPr/>
        </p:nvSpPr>
        <p:spPr>
          <a:xfrm>
            <a:off x="2444075" y="125075"/>
            <a:ext cx="5424900" cy="571500"/>
          </a:xfrm>
          <a:prstGeom prst="rect">
            <a:avLst/>
          </a:prstGeom>
          <a:noFill/>
          <a:ln>
            <a:noFill/>
          </a:ln>
        </p:spPr>
        <p:txBody>
          <a:bodyPr spcFirstLastPara="1" wrap="square" lIns="91425" tIns="91425" rIns="91425" bIns="91425" anchor="t" anchorCtr="0">
            <a:normAutofit fontScale="70000"/>
          </a:bodyPr>
          <a:lstStyle/>
          <a:p>
            <a:pPr marL="0" lvl="0" indent="0" algn="ctr" rtl="0">
              <a:spcBef>
                <a:spcPts val="0"/>
              </a:spcBef>
              <a:spcAft>
                <a:spcPts val="0"/>
              </a:spcAft>
              <a:buClr>
                <a:schemeClr val="dk1"/>
              </a:buClr>
              <a:buSzPct val="30555"/>
              <a:buFont typeface="Arial"/>
              <a:buNone/>
            </a:pPr>
            <a:r>
              <a:rPr lang="fr" sz="3600" b="1">
                <a:solidFill>
                  <a:schemeClr val="lt1"/>
                </a:solidFill>
              </a:rPr>
              <a:t>La base de donnée graphe Neo4j</a:t>
            </a:r>
            <a:endParaRPr sz="1900" b="1">
              <a:solidFill>
                <a:schemeClr val="lt1"/>
              </a:solidFill>
            </a:endParaRPr>
          </a:p>
        </p:txBody>
      </p:sp>
      <p:sp>
        <p:nvSpPr>
          <p:cNvPr id="83" name="Google Shape;83;p17"/>
          <p:cNvSpPr txBox="1"/>
          <p:nvPr/>
        </p:nvSpPr>
        <p:spPr>
          <a:xfrm>
            <a:off x="571500" y="1995900"/>
            <a:ext cx="4577100" cy="27204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fr" sz="2400">
                <a:solidFill>
                  <a:schemeClr val="lt1"/>
                </a:solidFill>
              </a:rPr>
              <a:t>Neo4j est une base de donnée graphe qui persiste la donnée dans un graphe.</a:t>
            </a:r>
            <a:endParaRPr sz="2400">
              <a:solidFill>
                <a:schemeClr val="lt1"/>
              </a:solidFill>
            </a:endParaRPr>
          </a:p>
          <a:p>
            <a:pPr marL="0" lvl="0" indent="0" algn="l" rtl="0">
              <a:spcBef>
                <a:spcPts val="0"/>
              </a:spcBef>
              <a:spcAft>
                <a:spcPts val="0"/>
              </a:spcAft>
              <a:buNone/>
            </a:pPr>
            <a:r>
              <a:rPr lang="fr" sz="2400">
                <a:solidFill>
                  <a:schemeClr val="lt1"/>
                </a:solidFill>
              </a:rPr>
              <a:t>La donnée est sauvegardée en Noeud (Node) et Relation (Relationship) à la place de Table et document.</a:t>
            </a:r>
            <a:endParaRPr sz="2400">
              <a:solidFill>
                <a:schemeClr val="lt1"/>
              </a:solidFill>
            </a:endParaRPr>
          </a:p>
        </p:txBody>
      </p:sp>
      <p:pic>
        <p:nvPicPr>
          <p:cNvPr id="84" name="Google Shape;84;p17"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title="Science des Données par Graphes"/>
          <p:cNvSpPr txBox="1"/>
          <p:nvPr/>
        </p:nvSpPr>
        <p:spPr>
          <a:xfrm>
            <a:off x="2350275" y="156350"/>
            <a:ext cx="5424900" cy="5715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440"/>
              <a:buNone/>
            </a:pPr>
            <a:r>
              <a:rPr lang="fr" sz="2540" b="1">
                <a:solidFill>
                  <a:schemeClr val="lt1"/>
                </a:solidFill>
              </a:rPr>
              <a:t>La base de donnée graphe Neo4j</a:t>
            </a:r>
            <a:endParaRPr sz="2540" b="1">
              <a:solidFill>
                <a:schemeClr val="lt1"/>
              </a:solidFill>
            </a:endParaRPr>
          </a:p>
          <a:p>
            <a:pPr marL="0" lvl="0" indent="0" algn="l" rtl="0">
              <a:lnSpc>
                <a:spcPct val="80000"/>
              </a:lnSpc>
              <a:spcBef>
                <a:spcPts val="0"/>
              </a:spcBef>
              <a:spcAft>
                <a:spcPts val="0"/>
              </a:spcAft>
              <a:buSzPts val="440"/>
              <a:buNone/>
            </a:pPr>
            <a:endParaRPr sz="1540" b="1">
              <a:solidFill>
                <a:schemeClr val="lt1"/>
              </a:solidFill>
            </a:endParaRPr>
          </a:p>
        </p:txBody>
      </p:sp>
      <p:sp>
        <p:nvSpPr>
          <p:cNvPr id="90" name="Google Shape;90;p18"/>
          <p:cNvSpPr txBox="1"/>
          <p:nvPr/>
        </p:nvSpPr>
        <p:spPr>
          <a:xfrm>
            <a:off x="239725" y="2023200"/>
            <a:ext cx="4471500" cy="28338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Les objets sont référencés comme des Noeud(Node)</a:t>
            </a:r>
            <a:endParaRPr sz="2400">
              <a:solidFill>
                <a:schemeClr val="lt1"/>
              </a:solidFill>
            </a:endParaRPr>
          </a:p>
          <a:p>
            <a:pPr marL="0" lvl="0" indent="0" algn="l" rtl="0">
              <a:spcBef>
                <a:spcPts val="0"/>
              </a:spcBef>
              <a:spcAft>
                <a:spcPts val="0"/>
              </a:spcAft>
              <a:buNone/>
            </a:pPr>
            <a:r>
              <a:rPr lang="fr" sz="2400">
                <a:solidFill>
                  <a:schemeClr val="lt1"/>
                </a:solidFill>
              </a:rPr>
              <a:t>Ils sont reliés par des Arcs(RelationShips)</a:t>
            </a:r>
            <a:endParaRPr sz="2400">
              <a:solidFill>
                <a:schemeClr val="lt1"/>
              </a:solidFill>
            </a:endParaRPr>
          </a:p>
          <a:p>
            <a:pPr marL="0" lvl="0" indent="0" algn="l" rtl="0">
              <a:spcBef>
                <a:spcPts val="0"/>
              </a:spcBef>
              <a:spcAft>
                <a:spcPts val="0"/>
              </a:spcAft>
              <a:buNone/>
            </a:pPr>
            <a:r>
              <a:rPr lang="fr" sz="2400">
                <a:solidFill>
                  <a:schemeClr val="lt1"/>
                </a:solidFill>
              </a:rPr>
              <a:t>Neo4j utilise la structure graphe pour persister la data</a:t>
            </a:r>
            <a:endParaRPr sz="2400">
              <a:solidFill>
                <a:schemeClr val="lt1"/>
              </a:solidFill>
            </a:endParaRPr>
          </a:p>
        </p:txBody>
      </p:sp>
      <p:sp>
        <p:nvSpPr>
          <p:cNvPr id="91" name="Google Shape;91;p18"/>
          <p:cNvSpPr txBox="1"/>
          <p:nvPr/>
        </p:nvSpPr>
        <p:spPr>
          <a:xfrm>
            <a:off x="4905300" y="1761400"/>
            <a:ext cx="4238700" cy="1844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Neo4j utilise la structure graphe pour persister la data.</a:t>
            </a:r>
            <a:endParaRPr sz="2400">
              <a:solidFill>
                <a:schemeClr val="lt1"/>
              </a:solidFill>
            </a:endParaRPr>
          </a:p>
          <a:p>
            <a:pPr marL="0" lvl="0" indent="0" algn="l" rtl="0">
              <a:spcBef>
                <a:spcPts val="0"/>
              </a:spcBef>
              <a:spcAft>
                <a:spcPts val="0"/>
              </a:spcAft>
              <a:buNone/>
            </a:pPr>
            <a:r>
              <a:rPr lang="fr" sz="2400">
                <a:solidFill>
                  <a:schemeClr val="lt1"/>
                </a:solidFill>
              </a:rPr>
              <a:t>Il est appelé Labeled graph property.</a:t>
            </a:r>
            <a:endParaRPr sz="2400">
              <a:solidFill>
                <a:schemeClr val="lt1"/>
              </a:solidFill>
            </a:endParaRPr>
          </a:p>
        </p:txBody>
      </p:sp>
      <p:pic>
        <p:nvPicPr>
          <p:cNvPr id="92" name="Google Shape;92;p18"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p:nvPr/>
        </p:nvSpPr>
        <p:spPr>
          <a:xfrm>
            <a:off x="239725" y="2496175"/>
            <a:ext cx="4956000" cy="2360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fr" sz="2400">
                <a:solidFill>
                  <a:schemeClr val="lt1"/>
                </a:solidFill>
              </a:rPr>
              <a:t>Dans Neo4j la donnée est stockée et organisée en utilisant :</a:t>
            </a:r>
            <a:endParaRPr sz="2400">
              <a:solidFill>
                <a:schemeClr val="lt1"/>
              </a:solidFill>
            </a:endParaRPr>
          </a:p>
          <a:p>
            <a:pPr marL="457200" lvl="0" indent="-381000" algn="l" rtl="0">
              <a:spcBef>
                <a:spcPts val="0"/>
              </a:spcBef>
              <a:spcAft>
                <a:spcPts val="0"/>
              </a:spcAft>
              <a:buClr>
                <a:schemeClr val="lt1"/>
              </a:buClr>
              <a:buSzPts val="2400"/>
              <a:buChar char="●"/>
            </a:pPr>
            <a:r>
              <a:rPr lang="fr" sz="2400">
                <a:solidFill>
                  <a:schemeClr val="lt1"/>
                </a:solidFill>
              </a:rPr>
              <a:t>Nodes</a:t>
            </a:r>
            <a:endParaRPr sz="2400">
              <a:solidFill>
                <a:schemeClr val="lt1"/>
              </a:solidFill>
            </a:endParaRPr>
          </a:p>
          <a:p>
            <a:pPr marL="457200" lvl="0" indent="-381000" algn="l" rtl="0">
              <a:spcBef>
                <a:spcPts val="0"/>
              </a:spcBef>
              <a:spcAft>
                <a:spcPts val="0"/>
              </a:spcAft>
              <a:buClr>
                <a:schemeClr val="lt1"/>
              </a:buClr>
              <a:buSzPts val="2400"/>
              <a:buChar char="●"/>
            </a:pPr>
            <a:r>
              <a:rPr lang="fr" sz="2400">
                <a:solidFill>
                  <a:schemeClr val="lt1"/>
                </a:solidFill>
              </a:rPr>
              <a:t>RelationShips</a:t>
            </a:r>
            <a:endParaRPr sz="2400">
              <a:solidFill>
                <a:schemeClr val="lt1"/>
              </a:solidFill>
            </a:endParaRPr>
          </a:p>
          <a:p>
            <a:pPr marL="457200" lvl="0" indent="-381000" algn="l" rtl="0">
              <a:spcBef>
                <a:spcPts val="0"/>
              </a:spcBef>
              <a:spcAft>
                <a:spcPts val="0"/>
              </a:spcAft>
              <a:buClr>
                <a:schemeClr val="lt1"/>
              </a:buClr>
              <a:buSzPts val="2400"/>
              <a:buChar char="●"/>
            </a:pPr>
            <a:r>
              <a:rPr lang="fr" sz="2400">
                <a:solidFill>
                  <a:schemeClr val="lt1"/>
                </a:solidFill>
              </a:rPr>
              <a:t>Labels</a:t>
            </a:r>
            <a:endParaRPr sz="2400">
              <a:solidFill>
                <a:schemeClr val="lt1"/>
              </a:solidFill>
            </a:endParaRPr>
          </a:p>
          <a:p>
            <a:pPr marL="457200" lvl="0" indent="-381000" algn="l" rtl="0">
              <a:spcBef>
                <a:spcPts val="0"/>
              </a:spcBef>
              <a:spcAft>
                <a:spcPts val="0"/>
              </a:spcAft>
              <a:buClr>
                <a:schemeClr val="lt1"/>
              </a:buClr>
              <a:buSzPts val="2400"/>
              <a:buChar char="●"/>
            </a:pPr>
            <a:r>
              <a:rPr lang="fr" sz="2400">
                <a:solidFill>
                  <a:schemeClr val="lt1"/>
                </a:solidFill>
              </a:rPr>
              <a:t>Properties </a:t>
            </a:r>
            <a:endParaRPr sz="2400">
              <a:solidFill>
                <a:schemeClr val="lt1"/>
              </a:solidFill>
            </a:endParaRPr>
          </a:p>
        </p:txBody>
      </p:sp>
      <p:sp>
        <p:nvSpPr>
          <p:cNvPr id="98" name="Google Shape;98;p19"/>
          <p:cNvSpPr txBox="1"/>
          <p:nvPr/>
        </p:nvSpPr>
        <p:spPr>
          <a:xfrm>
            <a:off x="2788025" y="1261125"/>
            <a:ext cx="6112800" cy="6723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Nodes, Relationships, Labels, et Properties</a:t>
            </a:r>
            <a:endParaRPr sz="2400">
              <a:solidFill>
                <a:schemeClr val="lt1"/>
              </a:solidFill>
            </a:endParaRPr>
          </a:p>
        </p:txBody>
      </p:sp>
      <p:sp>
        <p:nvSpPr>
          <p:cNvPr id="99" name="Google Shape;99;p19" title="Science des Données par Graphes"/>
          <p:cNvSpPr txBox="1"/>
          <p:nvPr/>
        </p:nvSpPr>
        <p:spPr>
          <a:xfrm>
            <a:off x="2365925" y="126875"/>
            <a:ext cx="5424900" cy="5715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440"/>
              <a:buNone/>
            </a:pPr>
            <a:r>
              <a:rPr lang="fr" sz="2540" b="1">
                <a:solidFill>
                  <a:schemeClr val="lt1"/>
                </a:solidFill>
              </a:rPr>
              <a:t>La base de donnée graphe Neo4j</a:t>
            </a:r>
            <a:endParaRPr sz="2540" b="1">
              <a:solidFill>
                <a:schemeClr val="lt1"/>
              </a:solidFill>
            </a:endParaRPr>
          </a:p>
          <a:p>
            <a:pPr marL="0" lvl="0" indent="0" algn="l" rtl="0">
              <a:lnSpc>
                <a:spcPct val="80000"/>
              </a:lnSpc>
              <a:spcBef>
                <a:spcPts val="0"/>
              </a:spcBef>
              <a:spcAft>
                <a:spcPts val="0"/>
              </a:spcAft>
              <a:buSzPts val="440"/>
              <a:buNone/>
            </a:pPr>
            <a:endParaRPr sz="1540" b="1">
              <a:solidFill>
                <a:schemeClr val="lt1"/>
              </a:solidFill>
            </a:endParaRPr>
          </a:p>
        </p:txBody>
      </p:sp>
      <p:pic>
        <p:nvPicPr>
          <p:cNvPr id="100" name="Google Shape;100;p19"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0"/>
          <p:cNvSpPr txBox="1"/>
          <p:nvPr/>
        </p:nvSpPr>
        <p:spPr>
          <a:xfrm>
            <a:off x="239725" y="2183500"/>
            <a:ext cx="4424400" cy="26733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Nodes : C’est visuellement un cercle.</a:t>
            </a:r>
            <a:endParaRPr sz="2400">
              <a:solidFill>
                <a:schemeClr val="lt1"/>
              </a:solidFill>
            </a:endParaRPr>
          </a:p>
          <a:p>
            <a:pPr marL="0" lvl="0" indent="0" algn="l" rtl="0">
              <a:spcBef>
                <a:spcPts val="0"/>
              </a:spcBef>
              <a:spcAft>
                <a:spcPts val="0"/>
              </a:spcAft>
              <a:buNone/>
            </a:pPr>
            <a:r>
              <a:rPr lang="fr" sz="2400">
                <a:solidFill>
                  <a:schemeClr val="lt1"/>
                </a:solidFill>
              </a:rPr>
              <a:t>Il représentent les objets ou les entités.</a:t>
            </a:r>
            <a:endParaRPr sz="2400">
              <a:solidFill>
                <a:schemeClr val="lt1"/>
              </a:solidFill>
            </a:endParaRPr>
          </a:p>
          <a:p>
            <a:pPr marL="0" lvl="0" indent="0" algn="l" rtl="0">
              <a:spcBef>
                <a:spcPts val="0"/>
              </a:spcBef>
              <a:spcAft>
                <a:spcPts val="0"/>
              </a:spcAft>
              <a:buNone/>
            </a:pPr>
            <a:r>
              <a:rPr lang="fr" sz="2400">
                <a:solidFill>
                  <a:schemeClr val="lt1"/>
                </a:solidFill>
              </a:rPr>
              <a:t>Chaque Entité est un Node dans une base graphe.</a:t>
            </a:r>
            <a:endParaRPr sz="2400">
              <a:solidFill>
                <a:schemeClr val="lt1"/>
              </a:solidFill>
            </a:endParaRPr>
          </a:p>
        </p:txBody>
      </p:sp>
      <p:sp>
        <p:nvSpPr>
          <p:cNvPr id="106" name="Google Shape;106;p20"/>
          <p:cNvSpPr txBox="1"/>
          <p:nvPr/>
        </p:nvSpPr>
        <p:spPr>
          <a:xfrm>
            <a:off x="2147025" y="1346225"/>
            <a:ext cx="1657200" cy="6723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Nodes</a:t>
            </a:r>
            <a:endParaRPr sz="2400">
              <a:solidFill>
                <a:schemeClr val="lt1"/>
              </a:solidFill>
            </a:endParaRPr>
          </a:p>
        </p:txBody>
      </p:sp>
      <p:pic>
        <p:nvPicPr>
          <p:cNvPr id="107" name="Google Shape;107;p20"/>
          <p:cNvPicPr preferRelativeResize="0"/>
          <p:nvPr/>
        </p:nvPicPr>
        <p:blipFill>
          <a:blip r:embed="rId3">
            <a:alphaModFix/>
          </a:blip>
          <a:stretch>
            <a:fillRect/>
          </a:stretch>
        </p:blipFill>
        <p:spPr>
          <a:xfrm>
            <a:off x="4804825" y="1346225"/>
            <a:ext cx="3830200" cy="2213051"/>
          </a:xfrm>
          <a:prstGeom prst="rect">
            <a:avLst/>
          </a:prstGeom>
          <a:noFill/>
          <a:ln>
            <a:noFill/>
          </a:ln>
        </p:spPr>
      </p:pic>
      <p:sp>
        <p:nvSpPr>
          <p:cNvPr id="108" name="Google Shape;108;p20" title="Science des Données par Graphes"/>
          <p:cNvSpPr txBox="1"/>
          <p:nvPr/>
        </p:nvSpPr>
        <p:spPr>
          <a:xfrm>
            <a:off x="2350275" y="62550"/>
            <a:ext cx="5424900" cy="5715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440"/>
              <a:buNone/>
            </a:pPr>
            <a:r>
              <a:rPr lang="fr" sz="2540" b="1">
                <a:solidFill>
                  <a:schemeClr val="lt1"/>
                </a:solidFill>
              </a:rPr>
              <a:t>La base de donnée graphe Neo4j</a:t>
            </a:r>
            <a:endParaRPr sz="2540" b="1">
              <a:solidFill>
                <a:schemeClr val="lt1"/>
              </a:solidFill>
            </a:endParaRPr>
          </a:p>
          <a:p>
            <a:pPr marL="0" lvl="0" indent="0" algn="l" rtl="0">
              <a:lnSpc>
                <a:spcPct val="80000"/>
              </a:lnSpc>
              <a:spcBef>
                <a:spcPts val="0"/>
              </a:spcBef>
              <a:spcAft>
                <a:spcPts val="0"/>
              </a:spcAft>
              <a:buSzPts val="440"/>
              <a:buNone/>
            </a:pPr>
            <a:endParaRPr sz="1540" b="1">
              <a:solidFill>
                <a:schemeClr val="lt1"/>
              </a:solidFill>
            </a:endParaRPr>
          </a:p>
        </p:txBody>
      </p:sp>
      <p:pic>
        <p:nvPicPr>
          <p:cNvPr id="109" name="Google Shape;109;p20" descr="Logo de Sorbonne Data Analytics"/>
          <p:cNvPicPr preferRelativeResize="0"/>
          <p:nvPr/>
        </p:nvPicPr>
        <p:blipFill rotWithShape="1">
          <a:blip r:embed="rId4">
            <a:alphaModFix/>
          </a:blip>
          <a:srcRect/>
          <a:stretch/>
        </p:blipFill>
        <p:spPr>
          <a:xfrm>
            <a:off x="7962775" y="0"/>
            <a:ext cx="1181225" cy="1181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p:nvPr/>
        </p:nvSpPr>
        <p:spPr>
          <a:xfrm>
            <a:off x="239725" y="2183500"/>
            <a:ext cx="4424400" cy="26733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Labels: Les Nodes sont groupés et catégorisés en utilisant les Labels.</a:t>
            </a:r>
            <a:endParaRPr sz="2400">
              <a:solidFill>
                <a:schemeClr val="lt1"/>
              </a:solidFill>
            </a:endParaRPr>
          </a:p>
          <a:p>
            <a:pPr marL="0" lvl="0" indent="0" algn="l" rtl="0">
              <a:spcBef>
                <a:spcPts val="0"/>
              </a:spcBef>
              <a:spcAft>
                <a:spcPts val="0"/>
              </a:spcAft>
              <a:buNone/>
            </a:pPr>
            <a:r>
              <a:rPr lang="fr" sz="2400">
                <a:solidFill>
                  <a:schemeClr val="lt1"/>
                </a:solidFill>
              </a:rPr>
              <a:t>Les labels décrivent ce que représente les Nodes.</a:t>
            </a:r>
            <a:endParaRPr sz="2400">
              <a:solidFill>
                <a:schemeClr val="lt1"/>
              </a:solidFill>
            </a:endParaRPr>
          </a:p>
        </p:txBody>
      </p:sp>
      <p:sp>
        <p:nvSpPr>
          <p:cNvPr id="115" name="Google Shape;115;p21"/>
          <p:cNvSpPr txBox="1"/>
          <p:nvPr/>
        </p:nvSpPr>
        <p:spPr>
          <a:xfrm>
            <a:off x="2147025" y="1346225"/>
            <a:ext cx="1657200" cy="6723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Labels</a:t>
            </a:r>
            <a:endParaRPr sz="2400">
              <a:solidFill>
                <a:schemeClr val="lt1"/>
              </a:solidFill>
            </a:endParaRPr>
          </a:p>
        </p:txBody>
      </p:sp>
      <p:pic>
        <p:nvPicPr>
          <p:cNvPr id="116" name="Google Shape;116;p21"/>
          <p:cNvPicPr preferRelativeResize="0"/>
          <p:nvPr/>
        </p:nvPicPr>
        <p:blipFill>
          <a:blip r:embed="rId3">
            <a:alphaModFix/>
          </a:blip>
          <a:stretch>
            <a:fillRect/>
          </a:stretch>
        </p:blipFill>
        <p:spPr>
          <a:xfrm>
            <a:off x="4816525" y="1333625"/>
            <a:ext cx="4175076" cy="2288200"/>
          </a:xfrm>
          <a:prstGeom prst="rect">
            <a:avLst/>
          </a:prstGeom>
          <a:noFill/>
          <a:ln>
            <a:noFill/>
          </a:ln>
        </p:spPr>
      </p:pic>
      <p:sp>
        <p:nvSpPr>
          <p:cNvPr id="117" name="Google Shape;117;p21" title="Science des Données par Graphes"/>
          <p:cNvSpPr txBox="1"/>
          <p:nvPr/>
        </p:nvSpPr>
        <p:spPr>
          <a:xfrm>
            <a:off x="2459725" y="78175"/>
            <a:ext cx="5424900" cy="5715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440"/>
              <a:buNone/>
            </a:pPr>
            <a:r>
              <a:rPr lang="fr" sz="2540" b="1">
                <a:solidFill>
                  <a:schemeClr val="lt1"/>
                </a:solidFill>
              </a:rPr>
              <a:t>La base de donnée graphe Neo4j</a:t>
            </a:r>
            <a:endParaRPr sz="2540" b="1">
              <a:solidFill>
                <a:schemeClr val="lt1"/>
              </a:solidFill>
            </a:endParaRPr>
          </a:p>
          <a:p>
            <a:pPr marL="0" lvl="0" indent="0" algn="l" rtl="0">
              <a:lnSpc>
                <a:spcPct val="80000"/>
              </a:lnSpc>
              <a:spcBef>
                <a:spcPts val="0"/>
              </a:spcBef>
              <a:spcAft>
                <a:spcPts val="0"/>
              </a:spcAft>
              <a:buSzPts val="440"/>
              <a:buNone/>
            </a:pPr>
            <a:endParaRPr sz="1540" b="1">
              <a:solidFill>
                <a:schemeClr val="lt1"/>
              </a:solidFill>
            </a:endParaRPr>
          </a:p>
        </p:txBody>
      </p:sp>
      <p:pic>
        <p:nvPicPr>
          <p:cNvPr id="118" name="Google Shape;118;p21" descr="Logo de Sorbonne Data Analytics"/>
          <p:cNvPicPr preferRelativeResize="0"/>
          <p:nvPr/>
        </p:nvPicPr>
        <p:blipFill rotWithShape="1">
          <a:blip r:embed="rId4">
            <a:alphaModFix/>
          </a:blip>
          <a:srcRect/>
          <a:stretch/>
        </p:blipFill>
        <p:spPr>
          <a:xfrm>
            <a:off x="7962775" y="0"/>
            <a:ext cx="1181225" cy="1181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2"/>
          <p:cNvSpPr txBox="1"/>
          <p:nvPr/>
        </p:nvSpPr>
        <p:spPr>
          <a:xfrm>
            <a:off x="239725" y="2183500"/>
            <a:ext cx="4332300" cy="2673300"/>
          </a:xfrm>
          <a:prstGeom prst="rect">
            <a:avLst/>
          </a:prstGeom>
          <a:noFill/>
          <a:ln>
            <a:noFill/>
          </a:ln>
        </p:spPr>
        <p:txBody>
          <a:bodyPr spcFirstLastPara="1" wrap="square" lIns="91425" tIns="91425" rIns="91425" bIns="91425" anchor="t" anchorCtr="0">
            <a:normAutofit fontScale="70000" lnSpcReduction="20000"/>
          </a:bodyPr>
          <a:lstStyle/>
          <a:p>
            <a:pPr marL="457200" lvl="0" indent="-335280" algn="l" rtl="0">
              <a:spcBef>
                <a:spcPts val="0"/>
              </a:spcBef>
              <a:spcAft>
                <a:spcPts val="0"/>
              </a:spcAft>
              <a:buClr>
                <a:schemeClr val="lt1"/>
              </a:buClr>
              <a:buSzPct val="100000"/>
              <a:buChar char="●"/>
            </a:pPr>
            <a:r>
              <a:rPr lang="fr" sz="2400">
                <a:solidFill>
                  <a:schemeClr val="lt1"/>
                </a:solidFill>
              </a:rPr>
              <a:t>Les Modes d’un même type doivent avoir le même Label</a:t>
            </a:r>
            <a:endParaRPr sz="2400">
              <a:solidFill>
                <a:schemeClr val="lt1"/>
              </a:solidFill>
            </a:endParaRPr>
          </a:p>
          <a:p>
            <a:pPr marL="457200" lvl="0" indent="-335280" algn="l" rtl="0">
              <a:spcBef>
                <a:spcPts val="0"/>
              </a:spcBef>
              <a:spcAft>
                <a:spcPts val="0"/>
              </a:spcAft>
              <a:buClr>
                <a:schemeClr val="lt1"/>
              </a:buClr>
              <a:buSzPct val="100000"/>
              <a:buChar char="●"/>
            </a:pPr>
            <a:r>
              <a:rPr lang="fr" sz="2400">
                <a:solidFill>
                  <a:schemeClr val="lt1"/>
                </a:solidFill>
              </a:rPr>
              <a:t>Les Labels permettent de distinguer différents  types de Node et de filtrer le graphe.</a:t>
            </a:r>
            <a:endParaRPr sz="2400">
              <a:solidFill>
                <a:schemeClr val="lt1"/>
              </a:solidFill>
            </a:endParaRPr>
          </a:p>
          <a:p>
            <a:pPr marL="457200" lvl="0" indent="-335280" algn="l" rtl="0">
              <a:spcBef>
                <a:spcPts val="0"/>
              </a:spcBef>
              <a:spcAft>
                <a:spcPts val="0"/>
              </a:spcAft>
              <a:buClr>
                <a:schemeClr val="lt1"/>
              </a:buClr>
              <a:buSzPct val="100000"/>
              <a:buChar char="●"/>
            </a:pPr>
            <a:r>
              <a:rPr lang="fr" sz="2400">
                <a:solidFill>
                  <a:schemeClr val="lt1"/>
                </a:solidFill>
              </a:rPr>
              <a:t>Les Nodes peuvent avoir plusieurs Labels.</a:t>
            </a:r>
            <a:endParaRPr sz="2400">
              <a:solidFill>
                <a:schemeClr val="lt1"/>
              </a:solidFill>
            </a:endParaRPr>
          </a:p>
          <a:p>
            <a:pPr marL="457200" lvl="0" indent="-335280" algn="l" rtl="0">
              <a:spcBef>
                <a:spcPts val="0"/>
              </a:spcBef>
              <a:spcAft>
                <a:spcPts val="0"/>
              </a:spcAft>
              <a:buClr>
                <a:schemeClr val="lt1"/>
              </a:buClr>
              <a:buSzPct val="100000"/>
              <a:buChar char="●"/>
            </a:pPr>
            <a:r>
              <a:rPr lang="fr" sz="2400">
                <a:solidFill>
                  <a:schemeClr val="lt1"/>
                </a:solidFill>
              </a:rPr>
              <a:t>Par exemple Michael est une Personne et il peut aussi être un Employé.</a:t>
            </a:r>
            <a:endParaRPr sz="2400">
              <a:solidFill>
                <a:schemeClr val="lt1"/>
              </a:solidFill>
            </a:endParaRPr>
          </a:p>
          <a:p>
            <a:pPr marL="457200" lvl="0" indent="0" algn="l" rtl="0">
              <a:spcBef>
                <a:spcPts val="0"/>
              </a:spcBef>
              <a:spcAft>
                <a:spcPts val="0"/>
              </a:spcAft>
              <a:buNone/>
            </a:pPr>
            <a:endParaRPr sz="2400">
              <a:solidFill>
                <a:schemeClr val="lt1"/>
              </a:solidFill>
            </a:endParaRPr>
          </a:p>
        </p:txBody>
      </p:sp>
      <p:sp>
        <p:nvSpPr>
          <p:cNvPr id="124" name="Google Shape;124;p22"/>
          <p:cNvSpPr txBox="1"/>
          <p:nvPr/>
        </p:nvSpPr>
        <p:spPr>
          <a:xfrm>
            <a:off x="2147025" y="1346225"/>
            <a:ext cx="1657200" cy="6723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Labels</a:t>
            </a:r>
            <a:endParaRPr sz="2400">
              <a:solidFill>
                <a:schemeClr val="lt1"/>
              </a:solidFill>
            </a:endParaRPr>
          </a:p>
        </p:txBody>
      </p:sp>
      <p:pic>
        <p:nvPicPr>
          <p:cNvPr id="125" name="Google Shape;125;p22"/>
          <p:cNvPicPr preferRelativeResize="0"/>
          <p:nvPr/>
        </p:nvPicPr>
        <p:blipFill>
          <a:blip r:embed="rId3">
            <a:alphaModFix/>
          </a:blip>
          <a:stretch>
            <a:fillRect/>
          </a:stretch>
        </p:blipFill>
        <p:spPr>
          <a:xfrm>
            <a:off x="4804825" y="1424375"/>
            <a:ext cx="4142874" cy="2102750"/>
          </a:xfrm>
          <a:prstGeom prst="rect">
            <a:avLst/>
          </a:prstGeom>
          <a:noFill/>
          <a:ln>
            <a:noFill/>
          </a:ln>
        </p:spPr>
      </p:pic>
      <p:sp>
        <p:nvSpPr>
          <p:cNvPr id="126" name="Google Shape;126;p22" title="Science des Données par Graphes"/>
          <p:cNvSpPr txBox="1"/>
          <p:nvPr/>
        </p:nvSpPr>
        <p:spPr>
          <a:xfrm>
            <a:off x="2428450" y="109425"/>
            <a:ext cx="5424900" cy="5715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440"/>
              <a:buNone/>
            </a:pPr>
            <a:r>
              <a:rPr lang="fr" sz="2540" b="1">
                <a:solidFill>
                  <a:schemeClr val="lt1"/>
                </a:solidFill>
              </a:rPr>
              <a:t>La base de donnée graphe Neo4j</a:t>
            </a:r>
            <a:endParaRPr sz="2540" b="1">
              <a:solidFill>
                <a:schemeClr val="lt1"/>
              </a:solidFill>
            </a:endParaRPr>
          </a:p>
          <a:p>
            <a:pPr marL="0" lvl="0" indent="0" algn="l" rtl="0">
              <a:lnSpc>
                <a:spcPct val="80000"/>
              </a:lnSpc>
              <a:spcBef>
                <a:spcPts val="0"/>
              </a:spcBef>
              <a:spcAft>
                <a:spcPts val="0"/>
              </a:spcAft>
              <a:buSzPts val="440"/>
              <a:buNone/>
            </a:pPr>
            <a:endParaRPr sz="1540" b="1">
              <a:solidFill>
                <a:schemeClr val="lt1"/>
              </a:solidFill>
            </a:endParaRPr>
          </a:p>
        </p:txBody>
      </p:sp>
      <p:pic>
        <p:nvPicPr>
          <p:cNvPr id="127" name="Google Shape;127;p22" descr="Logo de Sorbonne Data Analytics"/>
          <p:cNvPicPr preferRelativeResize="0"/>
          <p:nvPr/>
        </p:nvPicPr>
        <p:blipFill rotWithShape="1">
          <a:blip r:embed="rId4">
            <a:alphaModFix/>
          </a:blip>
          <a:srcRect/>
          <a:stretch/>
        </p:blipFill>
        <p:spPr>
          <a:xfrm>
            <a:off x="7962775" y="0"/>
            <a:ext cx="1181225" cy="1181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3"/>
          <p:cNvSpPr txBox="1"/>
          <p:nvPr/>
        </p:nvSpPr>
        <p:spPr>
          <a:xfrm>
            <a:off x="239725" y="2183500"/>
            <a:ext cx="4332300" cy="2673300"/>
          </a:xfrm>
          <a:prstGeom prst="rect">
            <a:avLst/>
          </a:prstGeom>
          <a:noFill/>
          <a:ln>
            <a:noFill/>
          </a:ln>
        </p:spPr>
        <p:txBody>
          <a:bodyPr spcFirstLastPara="1" wrap="square" lIns="91425" tIns="91425" rIns="91425" bIns="91425" anchor="t" anchorCtr="0">
            <a:normAutofit lnSpcReduction="10000"/>
          </a:bodyPr>
          <a:lstStyle/>
          <a:p>
            <a:pPr marL="457200" lvl="0" indent="-381000" algn="l" rtl="0">
              <a:spcBef>
                <a:spcPts val="0"/>
              </a:spcBef>
              <a:spcAft>
                <a:spcPts val="0"/>
              </a:spcAft>
              <a:buClr>
                <a:schemeClr val="lt1"/>
              </a:buClr>
              <a:buSzPts val="2400"/>
              <a:buChar char="●"/>
            </a:pPr>
            <a:r>
              <a:rPr lang="fr" sz="2400">
                <a:solidFill>
                  <a:schemeClr val="lt1"/>
                </a:solidFill>
              </a:rPr>
              <a:t>Les RelationShips sont les arcs qui relient les Nodes.</a:t>
            </a:r>
            <a:endParaRPr sz="2400">
              <a:solidFill>
                <a:schemeClr val="lt1"/>
              </a:solidFill>
            </a:endParaRPr>
          </a:p>
          <a:p>
            <a:pPr marL="457200" lvl="0" indent="-381000" algn="l" rtl="0">
              <a:spcBef>
                <a:spcPts val="0"/>
              </a:spcBef>
              <a:spcAft>
                <a:spcPts val="0"/>
              </a:spcAft>
              <a:buClr>
                <a:schemeClr val="lt1"/>
              </a:buClr>
              <a:buSzPts val="2400"/>
              <a:buChar char="●"/>
            </a:pPr>
            <a:r>
              <a:rPr lang="fr" sz="2400">
                <a:solidFill>
                  <a:schemeClr val="lt1"/>
                </a:solidFill>
              </a:rPr>
              <a:t>Ils décrivent comment les Nodes sont connectés.</a:t>
            </a:r>
            <a:endParaRPr sz="2400">
              <a:solidFill>
                <a:schemeClr val="lt1"/>
              </a:solidFill>
            </a:endParaRPr>
          </a:p>
          <a:p>
            <a:pPr marL="457200" lvl="0" indent="-381000" algn="l" rtl="0">
              <a:spcBef>
                <a:spcPts val="0"/>
              </a:spcBef>
              <a:spcAft>
                <a:spcPts val="0"/>
              </a:spcAft>
              <a:buClr>
                <a:schemeClr val="lt1"/>
              </a:buClr>
              <a:buSzPts val="2400"/>
              <a:buChar char="●"/>
            </a:pPr>
            <a:r>
              <a:rPr lang="fr" sz="2400">
                <a:solidFill>
                  <a:schemeClr val="lt1"/>
                </a:solidFill>
              </a:rPr>
              <a:t>Ils connectent deux Nodes: Début (start) et Fin(end) de nodes</a:t>
            </a:r>
            <a:endParaRPr sz="2400">
              <a:solidFill>
                <a:schemeClr val="lt1"/>
              </a:solidFill>
            </a:endParaRPr>
          </a:p>
        </p:txBody>
      </p:sp>
      <p:sp>
        <p:nvSpPr>
          <p:cNvPr id="133" name="Google Shape;133;p23"/>
          <p:cNvSpPr txBox="1"/>
          <p:nvPr/>
        </p:nvSpPr>
        <p:spPr>
          <a:xfrm>
            <a:off x="2147025" y="1346225"/>
            <a:ext cx="1813500" cy="672300"/>
          </a:xfrm>
          <a:prstGeom prst="rect">
            <a:avLst/>
          </a:prstGeom>
          <a:noFill/>
          <a:ln>
            <a:noFill/>
          </a:ln>
        </p:spPr>
        <p:txBody>
          <a:bodyPr spcFirstLastPara="1" wrap="square" lIns="91425" tIns="91425" rIns="91425" bIns="91425" anchor="t" anchorCtr="0">
            <a:normAutofit fontScale="85000"/>
          </a:bodyPr>
          <a:lstStyle/>
          <a:p>
            <a:pPr marL="0" lvl="0" indent="0" algn="l" rtl="0">
              <a:spcBef>
                <a:spcPts val="0"/>
              </a:spcBef>
              <a:spcAft>
                <a:spcPts val="0"/>
              </a:spcAft>
              <a:buNone/>
            </a:pPr>
            <a:r>
              <a:rPr lang="fr" sz="2400">
                <a:solidFill>
                  <a:schemeClr val="lt1"/>
                </a:solidFill>
              </a:rPr>
              <a:t>RelationShips</a:t>
            </a:r>
            <a:endParaRPr sz="2400">
              <a:solidFill>
                <a:schemeClr val="lt1"/>
              </a:solidFill>
            </a:endParaRPr>
          </a:p>
        </p:txBody>
      </p:sp>
      <p:sp>
        <p:nvSpPr>
          <p:cNvPr id="134" name="Google Shape;134;p23" title="Science des Données par Graphes"/>
          <p:cNvSpPr txBox="1"/>
          <p:nvPr/>
        </p:nvSpPr>
        <p:spPr>
          <a:xfrm>
            <a:off x="2537900" y="0"/>
            <a:ext cx="5424900" cy="5715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440"/>
              <a:buNone/>
            </a:pPr>
            <a:r>
              <a:rPr lang="fr" sz="2540" b="1">
                <a:solidFill>
                  <a:schemeClr val="lt1"/>
                </a:solidFill>
              </a:rPr>
              <a:t>La base de donnée graphe Neo4j</a:t>
            </a:r>
            <a:endParaRPr sz="2540" b="1">
              <a:solidFill>
                <a:schemeClr val="lt1"/>
              </a:solidFill>
            </a:endParaRPr>
          </a:p>
          <a:p>
            <a:pPr marL="0" lvl="0" indent="0" algn="l" rtl="0">
              <a:lnSpc>
                <a:spcPct val="80000"/>
              </a:lnSpc>
              <a:spcBef>
                <a:spcPts val="0"/>
              </a:spcBef>
              <a:spcAft>
                <a:spcPts val="0"/>
              </a:spcAft>
              <a:buSzPts val="440"/>
              <a:buNone/>
            </a:pPr>
            <a:endParaRPr sz="1540" b="1">
              <a:solidFill>
                <a:schemeClr val="lt1"/>
              </a:solidFill>
            </a:endParaRPr>
          </a:p>
        </p:txBody>
      </p:sp>
      <p:pic>
        <p:nvPicPr>
          <p:cNvPr id="135" name="Google Shape;135;p23"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p:nvPr/>
        </p:nvSpPr>
        <p:spPr>
          <a:xfrm>
            <a:off x="239725" y="2183500"/>
            <a:ext cx="4332300" cy="26733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Tout RelationShip a :</a:t>
            </a:r>
            <a:endParaRPr sz="2400">
              <a:solidFill>
                <a:schemeClr val="lt1"/>
              </a:solidFill>
            </a:endParaRPr>
          </a:p>
          <a:p>
            <a:pPr marL="457200" lvl="0" indent="-381000" algn="l" rtl="0">
              <a:spcBef>
                <a:spcPts val="0"/>
              </a:spcBef>
              <a:spcAft>
                <a:spcPts val="0"/>
              </a:spcAft>
              <a:buClr>
                <a:schemeClr val="lt1"/>
              </a:buClr>
              <a:buSzPts val="2400"/>
              <a:buChar char="❖"/>
            </a:pPr>
            <a:r>
              <a:rPr lang="fr" sz="2400">
                <a:solidFill>
                  <a:schemeClr val="lt1"/>
                </a:solidFill>
              </a:rPr>
              <a:t>Un type : WORK_AT,FOUDED_IN</a:t>
            </a:r>
            <a:endParaRPr sz="2400">
              <a:solidFill>
                <a:schemeClr val="lt1"/>
              </a:solidFill>
            </a:endParaRPr>
          </a:p>
          <a:p>
            <a:pPr marL="457200" lvl="0" indent="-381000" algn="l" rtl="0">
              <a:spcBef>
                <a:spcPts val="0"/>
              </a:spcBef>
              <a:spcAft>
                <a:spcPts val="0"/>
              </a:spcAft>
              <a:buClr>
                <a:schemeClr val="lt1"/>
              </a:buClr>
              <a:buSzPts val="2400"/>
              <a:buChar char="❖"/>
            </a:pPr>
            <a:r>
              <a:rPr lang="fr" sz="2400">
                <a:solidFill>
                  <a:schemeClr val="lt1"/>
                </a:solidFill>
              </a:rPr>
              <a:t>Une direction: Michael WORK_AT Neo4j</a:t>
            </a:r>
            <a:endParaRPr sz="2400">
              <a:solidFill>
                <a:schemeClr val="lt1"/>
              </a:solidFill>
            </a:endParaRPr>
          </a:p>
        </p:txBody>
      </p:sp>
      <p:sp>
        <p:nvSpPr>
          <p:cNvPr id="141" name="Google Shape;141;p24"/>
          <p:cNvSpPr txBox="1"/>
          <p:nvPr/>
        </p:nvSpPr>
        <p:spPr>
          <a:xfrm>
            <a:off x="2147025" y="1346225"/>
            <a:ext cx="1813500" cy="672300"/>
          </a:xfrm>
          <a:prstGeom prst="rect">
            <a:avLst/>
          </a:prstGeom>
          <a:noFill/>
          <a:ln>
            <a:noFill/>
          </a:ln>
        </p:spPr>
        <p:txBody>
          <a:bodyPr spcFirstLastPara="1" wrap="square" lIns="91425" tIns="91425" rIns="91425" bIns="91425" anchor="t" anchorCtr="0">
            <a:normAutofit fontScale="85000"/>
          </a:bodyPr>
          <a:lstStyle/>
          <a:p>
            <a:pPr marL="0" lvl="0" indent="0" algn="l" rtl="0">
              <a:spcBef>
                <a:spcPts val="0"/>
              </a:spcBef>
              <a:spcAft>
                <a:spcPts val="0"/>
              </a:spcAft>
              <a:buNone/>
            </a:pPr>
            <a:r>
              <a:rPr lang="fr" sz="2400">
                <a:solidFill>
                  <a:schemeClr val="lt1"/>
                </a:solidFill>
              </a:rPr>
              <a:t>RelationShips</a:t>
            </a:r>
            <a:endParaRPr sz="2400">
              <a:solidFill>
                <a:schemeClr val="lt1"/>
              </a:solidFill>
            </a:endParaRPr>
          </a:p>
        </p:txBody>
      </p:sp>
      <p:pic>
        <p:nvPicPr>
          <p:cNvPr id="142" name="Google Shape;142;p24"/>
          <p:cNvPicPr preferRelativeResize="0"/>
          <p:nvPr/>
        </p:nvPicPr>
        <p:blipFill>
          <a:blip r:embed="rId3">
            <a:alphaModFix/>
          </a:blip>
          <a:stretch>
            <a:fillRect/>
          </a:stretch>
        </p:blipFill>
        <p:spPr>
          <a:xfrm>
            <a:off x="4740050" y="1089975"/>
            <a:ext cx="4267175" cy="2673300"/>
          </a:xfrm>
          <a:prstGeom prst="rect">
            <a:avLst/>
          </a:prstGeom>
          <a:noFill/>
          <a:ln>
            <a:noFill/>
          </a:ln>
        </p:spPr>
      </p:pic>
      <p:sp>
        <p:nvSpPr>
          <p:cNvPr id="143" name="Google Shape;143;p24" title="Science des Données par Graphes"/>
          <p:cNvSpPr txBox="1"/>
          <p:nvPr/>
        </p:nvSpPr>
        <p:spPr>
          <a:xfrm>
            <a:off x="2662950" y="343950"/>
            <a:ext cx="5424900" cy="5715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440"/>
              <a:buNone/>
            </a:pPr>
            <a:r>
              <a:rPr lang="fr" sz="2540" b="1">
                <a:solidFill>
                  <a:schemeClr val="lt1"/>
                </a:solidFill>
              </a:rPr>
              <a:t>La base de donnée graphe Neo4j</a:t>
            </a:r>
            <a:endParaRPr sz="2540" b="1">
              <a:solidFill>
                <a:schemeClr val="lt1"/>
              </a:solidFill>
            </a:endParaRPr>
          </a:p>
          <a:p>
            <a:pPr marL="0" lvl="0" indent="0" algn="l" rtl="0">
              <a:lnSpc>
                <a:spcPct val="80000"/>
              </a:lnSpc>
              <a:spcBef>
                <a:spcPts val="0"/>
              </a:spcBef>
              <a:spcAft>
                <a:spcPts val="0"/>
              </a:spcAft>
              <a:buSzPts val="440"/>
              <a:buNone/>
            </a:pPr>
            <a:endParaRPr sz="1540" b="1">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5"/>
          <p:cNvSpPr txBox="1"/>
          <p:nvPr/>
        </p:nvSpPr>
        <p:spPr>
          <a:xfrm>
            <a:off x="239725" y="2183500"/>
            <a:ext cx="4002300" cy="2673300"/>
          </a:xfrm>
          <a:prstGeom prst="rect">
            <a:avLst/>
          </a:prstGeom>
          <a:noFill/>
          <a:ln>
            <a:noFill/>
          </a:ln>
        </p:spPr>
        <p:txBody>
          <a:bodyPr spcFirstLastPara="1" wrap="square" lIns="91425" tIns="91425" rIns="91425" bIns="91425" anchor="t" anchorCtr="0">
            <a:normAutofit lnSpcReduction="20000"/>
          </a:bodyPr>
          <a:lstStyle/>
          <a:p>
            <a:pPr marL="457200" lvl="0" indent="-381000" algn="l" rtl="0">
              <a:spcBef>
                <a:spcPts val="0"/>
              </a:spcBef>
              <a:spcAft>
                <a:spcPts val="0"/>
              </a:spcAft>
              <a:buClr>
                <a:schemeClr val="lt1"/>
              </a:buClr>
              <a:buSzPts val="2400"/>
              <a:buChar char="❖"/>
            </a:pPr>
            <a:r>
              <a:rPr lang="fr" sz="2400">
                <a:solidFill>
                  <a:schemeClr val="lt1"/>
                </a:solidFill>
              </a:rPr>
              <a:t>Un Node peut avoir plusieurs RelationShips à d’autres Nodes.</a:t>
            </a:r>
            <a:endParaRPr sz="2400">
              <a:solidFill>
                <a:schemeClr val="lt1"/>
              </a:solidFill>
            </a:endParaRPr>
          </a:p>
          <a:p>
            <a:pPr marL="457200" lvl="0" indent="-381000" algn="l" rtl="0">
              <a:spcBef>
                <a:spcPts val="0"/>
              </a:spcBef>
              <a:spcAft>
                <a:spcPts val="0"/>
              </a:spcAft>
              <a:buClr>
                <a:schemeClr val="lt1"/>
              </a:buClr>
              <a:buSzPts val="2400"/>
              <a:buChar char="❖"/>
            </a:pPr>
            <a:r>
              <a:rPr lang="fr" sz="2400">
                <a:solidFill>
                  <a:schemeClr val="lt1"/>
                </a:solidFill>
              </a:rPr>
              <a:t>Les RelationShips multiples peuvent être utilisés pour représenter les doubles directions (bi-direction).</a:t>
            </a:r>
            <a:endParaRPr sz="2400">
              <a:solidFill>
                <a:schemeClr val="lt1"/>
              </a:solidFill>
            </a:endParaRPr>
          </a:p>
        </p:txBody>
      </p:sp>
      <p:sp>
        <p:nvSpPr>
          <p:cNvPr id="149" name="Google Shape;149;p25"/>
          <p:cNvSpPr txBox="1"/>
          <p:nvPr/>
        </p:nvSpPr>
        <p:spPr>
          <a:xfrm>
            <a:off x="2147025" y="1346225"/>
            <a:ext cx="1813500" cy="672300"/>
          </a:xfrm>
          <a:prstGeom prst="rect">
            <a:avLst/>
          </a:prstGeom>
          <a:noFill/>
          <a:ln>
            <a:noFill/>
          </a:ln>
        </p:spPr>
        <p:txBody>
          <a:bodyPr spcFirstLastPara="1" wrap="square" lIns="91425" tIns="91425" rIns="91425" bIns="91425" anchor="t" anchorCtr="0">
            <a:normAutofit fontScale="85000"/>
          </a:bodyPr>
          <a:lstStyle/>
          <a:p>
            <a:pPr marL="0" lvl="0" indent="0" algn="l" rtl="0">
              <a:spcBef>
                <a:spcPts val="0"/>
              </a:spcBef>
              <a:spcAft>
                <a:spcPts val="0"/>
              </a:spcAft>
              <a:buNone/>
            </a:pPr>
            <a:r>
              <a:rPr lang="fr" sz="2400">
                <a:solidFill>
                  <a:schemeClr val="lt1"/>
                </a:solidFill>
              </a:rPr>
              <a:t>RelationShips</a:t>
            </a:r>
            <a:endParaRPr sz="2400">
              <a:solidFill>
                <a:schemeClr val="lt1"/>
              </a:solidFill>
            </a:endParaRPr>
          </a:p>
        </p:txBody>
      </p:sp>
      <p:pic>
        <p:nvPicPr>
          <p:cNvPr id="150" name="Google Shape;150;p25"/>
          <p:cNvPicPr preferRelativeResize="0"/>
          <p:nvPr/>
        </p:nvPicPr>
        <p:blipFill>
          <a:blip r:embed="rId3">
            <a:alphaModFix/>
          </a:blip>
          <a:stretch>
            <a:fillRect/>
          </a:stretch>
        </p:blipFill>
        <p:spPr>
          <a:xfrm>
            <a:off x="4335750" y="1301750"/>
            <a:ext cx="4658849" cy="2288800"/>
          </a:xfrm>
          <a:prstGeom prst="rect">
            <a:avLst/>
          </a:prstGeom>
          <a:noFill/>
          <a:ln>
            <a:noFill/>
          </a:ln>
        </p:spPr>
      </p:pic>
      <p:sp>
        <p:nvSpPr>
          <p:cNvPr id="151" name="Google Shape;151;p25" title="Science des Données par Graphes"/>
          <p:cNvSpPr txBox="1"/>
          <p:nvPr/>
        </p:nvSpPr>
        <p:spPr>
          <a:xfrm>
            <a:off x="2788025" y="437750"/>
            <a:ext cx="5424900" cy="5715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440"/>
              <a:buNone/>
            </a:pPr>
            <a:r>
              <a:rPr lang="fr" sz="2540" b="1">
                <a:solidFill>
                  <a:schemeClr val="lt1"/>
                </a:solidFill>
              </a:rPr>
              <a:t>La base de donnée graphe Neo4j</a:t>
            </a:r>
            <a:endParaRPr sz="2540" b="1">
              <a:solidFill>
                <a:schemeClr val="lt1"/>
              </a:solidFill>
            </a:endParaRPr>
          </a:p>
          <a:p>
            <a:pPr marL="0" lvl="0" indent="0" algn="l" rtl="0">
              <a:lnSpc>
                <a:spcPct val="80000"/>
              </a:lnSpc>
              <a:spcBef>
                <a:spcPts val="0"/>
              </a:spcBef>
              <a:spcAft>
                <a:spcPts val="0"/>
              </a:spcAft>
              <a:buSzPts val="440"/>
              <a:buNone/>
            </a:pPr>
            <a:endParaRPr sz="1540" b="1">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6"/>
          <p:cNvSpPr txBox="1"/>
          <p:nvPr/>
        </p:nvSpPr>
        <p:spPr>
          <a:xfrm>
            <a:off x="239725" y="2183500"/>
            <a:ext cx="4002300" cy="26733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Les properties permettent de stocker la data sur les nodes et les relationships sous forme de clé/valeur.</a:t>
            </a:r>
            <a:endParaRPr sz="2400">
              <a:solidFill>
                <a:schemeClr val="lt1"/>
              </a:solidFill>
            </a:endParaRPr>
          </a:p>
        </p:txBody>
      </p:sp>
      <p:sp>
        <p:nvSpPr>
          <p:cNvPr id="157" name="Google Shape;157;p26"/>
          <p:cNvSpPr txBox="1"/>
          <p:nvPr/>
        </p:nvSpPr>
        <p:spPr>
          <a:xfrm>
            <a:off x="2147025" y="1346225"/>
            <a:ext cx="1813500" cy="6723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Properties</a:t>
            </a:r>
            <a:endParaRPr sz="2400">
              <a:solidFill>
                <a:schemeClr val="lt1"/>
              </a:solidFill>
            </a:endParaRPr>
          </a:p>
        </p:txBody>
      </p:sp>
      <p:sp>
        <p:nvSpPr>
          <p:cNvPr id="158" name="Google Shape;158;p26" title="Science des Données par Graphes"/>
          <p:cNvSpPr txBox="1"/>
          <p:nvPr/>
        </p:nvSpPr>
        <p:spPr>
          <a:xfrm>
            <a:off x="2428450" y="109425"/>
            <a:ext cx="5424900" cy="5715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440"/>
              <a:buNone/>
            </a:pPr>
            <a:r>
              <a:rPr lang="fr" sz="2540" b="1">
                <a:solidFill>
                  <a:schemeClr val="lt1"/>
                </a:solidFill>
              </a:rPr>
              <a:t>La base de donnée graphe Neo4j</a:t>
            </a:r>
            <a:endParaRPr sz="2540" b="1">
              <a:solidFill>
                <a:schemeClr val="lt1"/>
              </a:solidFill>
            </a:endParaRPr>
          </a:p>
          <a:p>
            <a:pPr marL="0" lvl="0" indent="0" algn="l" rtl="0">
              <a:lnSpc>
                <a:spcPct val="80000"/>
              </a:lnSpc>
              <a:spcBef>
                <a:spcPts val="0"/>
              </a:spcBef>
              <a:spcAft>
                <a:spcPts val="0"/>
              </a:spcAft>
              <a:buSzPts val="440"/>
              <a:buNone/>
            </a:pPr>
            <a:endParaRPr sz="1540" b="1">
              <a:solidFill>
                <a:schemeClr val="lt1"/>
              </a:solidFill>
            </a:endParaRPr>
          </a:p>
        </p:txBody>
      </p:sp>
      <p:pic>
        <p:nvPicPr>
          <p:cNvPr id="159" name="Google Shape;159;p26"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7"/>
          <p:cNvSpPr txBox="1"/>
          <p:nvPr/>
        </p:nvSpPr>
        <p:spPr>
          <a:xfrm>
            <a:off x="5539525" y="1252425"/>
            <a:ext cx="2126100" cy="6723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Properties</a:t>
            </a:r>
            <a:endParaRPr sz="2400">
              <a:solidFill>
                <a:schemeClr val="lt1"/>
              </a:solidFill>
            </a:endParaRPr>
          </a:p>
        </p:txBody>
      </p:sp>
      <p:pic>
        <p:nvPicPr>
          <p:cNvPr id="165" name="Google Shape;165;p27"/>
          <p:cNvPicPr preferRelativeResize="0"/>
          <p:nvPr/>
        </p:nvPicPr>
        <p:blipFill>
          <a:blip r:embed="rId3">
            <a:alphaModFix/>
          </a:blip>
          <a:stretch>
            <a:fillRect/>
          </a:stretch>
        </p:blipFill>
        <p:spPr>
          <a:xfrm>
            <a:off x="329550" y="1849525"/>
            <a:ext cx="4694100" cy="3210600"/>
          </a:xfrm>
          <a:prstGeom prst="rect">
            <a:avLst/>
          </a:prstGeom>
          <a:noFill/>
          <a:ln>
            <a:noFill/>
          </a:ln>
        </p:spPr>
      </p:pic>
      <p:sp>
        <p:nvSpPr>
          <p:cNvPr id="166" name="Google Shape;166;p27" title="Science des Données par Graphes"/>
          <p:cNvSpPr txBox="1"/>
          <p:nvPr/>
        </p:nvSpPr>
        <p:spPr>
          <a:xfrm>
            <a:off x="2381550" y="62550"/>
            <a:ext cx="5424900" cy="5715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440"/>
              <a:buNone/>
            </a:pPr>
            <a:r>
              <a:rPr lang="fr" sz="2540" b="1">
                <a:solidFill>
                  <a:schemeClr val="lt1"/>
                </a:solidFill>
              </a:rPr>
              <a:t>La base de donnée graphe Neo4j</a:t>
            </a:r>
            <a:endParaRPr sz="2540" b="1">
              <a:solidFill>
                <a:schemeClr val="lt1"/>
              </a:solidFill>
            </a:endParaRPr>
          </a:p>
          <a:p>
            <a:pPr marL="0" lvl="0" indent="0" algn="l" rtl="0">
              <a:lnSpc>
                <a:spcPct val="80000"/>
              </a:lnSpc>
              <a:spcBef>
                <a:spcPts val="0"/>
              </a:spcBef>
              <a:spcAft>
                <a:spcPts val="0"/>
              </a:spcAft>
              <a:buSzPts val="440"/>
              <a:buNone/>
            </a:pPr>
            <a:endParaRPr sz="1540" b="1">
              <a:solidFill>
                <a:schemeClr val="lt1"/>
              </a:solidFill>
            </a:endParaRPr>
          </a:p>
        </p:txBody>
      </p:sp>
      <p:pic>
        <p:nvPicPr>
          <p:cNvPr id="167" name="Google Shape;167;p27" descr="Logo de Sorbonne Data Analytics"/>
          <p:cNvPicPr preferRelativeResize="0"/>
          <p:nvPr/>
        </p:nvPicPr>
        <p:blipFill rotWithShape="1">
          <a:blip r:embed="rId4">
            <a:alphaModFix/>
          </a:blip>
          <a:srcRect/>
          <a:stretch/>
        </p:blipFill>
        <p:spPr>
          <a:xfrm>
            <a:off x="7962775" y="0"/>
            <a:ext cx="1181225" cy="1181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8" title="Science des Données par Graphes"/>
          <p:cNvSpPr txBox="1"/>
          <p:nvPr/>
        </p:nvSpPr>
        <p:spPr>
          <a:xfrm>
            <a:off x="2350300" y="62550"/>
            <a:ext cx="5424900" cy="571500"/>
          </a:xfrm>
          <a:prstGeom prst="rect">
            <a:avLst/>
          </a:prstGeom>
          <a:noFill/>
          <a:ln>
            <a:noFill/>
          </a:ln>
        </p:spPr>
        <p:txBody>
          <a:bodyPr spcFirstLastPara="1" wrap="square" lIns="91425" tIns="91425" rIns="91425" bIns="91425" anchor="t" anchorCtr="0">
            <a:normAutofit fontScale="85000" lnSpcReduction="20000"/>
          </a:bodyPr>
          <a:lstStyle/>
          <a:p>
            <a:pPr marL="0" lvl="0" indent="0" algn="ctr" rtl="0">
              <a:spcBef>
                <a:spcPts val="0"/>
              </a:spcBef>
              <a:spcAft>
                <a:spcPts val="0"/>
              </a:spcAft>
              <a:buSzPct val="30555"/>
              <a:buNone/>
            </a:pPr>
            <a:r>
              <a:rPr lang="fr" sz="3600" b="1">
                <a:solidFill>
                  <a:schemeClr val="lt1"/>
                </a:solidFill>
              </a:rPr>
              <a:t>Contrôle de connaissances</a:t>
            </a:r>
            <a:endParaRPr sz="1900" b="1">
              <a:solidFill>
                <a:schemeClr val="lt1"/>
              </a:solidFill>
            </a:endParaRPr>
          </a:p>
        </p:txBody>
      </p:sp>
      <p:sp>
        <p:nvSpPr>
          <p:cNvPr id="173" name="Google Shape;173;p28"/>
          <p:cNvSpPr txBox="1"/>
          <p:nvPr/>
        </p:nvSpPr>
        <p:spPr>
          <a:xfrm>
            <a:off x="2584775" y="1252425"/>
            <a:ext cx="5940900" cy="6654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Sélectionner tous les concepts valides.</a:t>
            </a:r>
            <a:endParaRPr sz="2400">
              <a:solidFill>
                <a:schemeClr val="lt1"/>
              </a:solidFill>
            </a:endParaRPr>
          </a:p>
        </p:txBody>
      </p:sp>
      <p:pic>
        <p:nvPicPr>
          <p:cNvPr id="174" name="Google Shape;174;p28"/>
          <p:cNvPicPr preferRelativeResize="0"/>
          <p:nvPr/>
        </p:nvPicPr>
        <p:blipFill>
          <a:blip r:embed="rId3">
            <a:alphaModFix/>
          </a:blip>
          <a:stretch>
            <a:fillRect/>
          </a:stretch>
        </p:blipFill>
        <p:spPr>
          <a:xfrm>
            <a:off x="99025" y="2136525"/>
            <a:ext cx="4674476" cy="2939225"/>
          </a:xfrm>
          <a:prstGeom prst="rect">
            <a:avLst/>
          </a:prstGeom>
          <a:noFill/>
          <a:ln>
            <a:noFill/>
          </a:ln>
        </p:spPr>
      </p:pic>
      <p:pic>
        <p:nvPicPr>
          <p:cNvPr id="175" name="Google Shape;175;p28" descr="Logo de Sorbonne Data Analytics"/>
          <p:cNvPicPr preferRelativeResize="0"/>
          <p:nvPr/>
        </p:nvPicPr>
        <p:blipFill rotWithShape="1">
          <a:blip r:embed="rId4">
            <a:alphaModFix/>
          </a:blip>
          <a:srcRect/>
          <a:stretch/>
        </p:blipFill>
        <p:spPr>
          <a:xfrm>
            <a:off x="7962775" y="0"/>
            <a:ext cx="1181225" cy="1181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9" title="Science des Données par Graphes"/>
          <p:cNvSpPr txBox="1"/>
          <p:nvPr/>
        </p:nvSpPr>
        <p:spPr>
          <a:xfrm>
            <a:off x="2428450" y="78175"/>
            <a:ext cx="5424900" cy="571500"/>
          </a:xfrm>
          <a:prstGeom prst="rect">
            <a:avLst/>
          </a:prstGeom>
          <a:noFill/>
          <a:ln>
            <a:noFill/>
          </a:ln>
        </p:spPr>
        <p:txBody>
          <a:bodyPr spcFirstLastPara="1" wrap="square" lIns="91425" tIns="91425" rIns="91425" bIns="91425" anchor="t" anchorCtr="0">
            <a:normAutofit fontScale="85000" lnSpcReduction="20000"/>
          </a:bodyPr>
          <a:lstStyle/>
          <a:p>
            <a:pPr marL="0" lvl="0" indent="0" algn="ctr" rtl="0">
              <a:spcBef>
                <a:spcPts val="0"/>
              </a:spcBef>
              <a:spcAft>
                <a:spcPts val="0"/>
              </a:spcAft>
              <a:buSzPct val="30555"/>
              <a:buNone/>
            </a:pPr>
            <a:r>
              <a:rPr lang="fr" sz="3600" b="1">
                <a:solidFill>
                  <a:schemeClr val="lt1"/>
                </a:solidFill>
              </a:rPr>
              <a:t>Contrôle de connaissances</a:t>
            </a:r>
            <a:endParaRPr sz="1900" b="1">
              <a:solidFill>
                <a:schemeClr val="lt1"/>
              </a:solidFill>
            </a:endParaRPr>
          </a:p>
        </p:txBody>
      </p:sp>
      <p:sp>
        <p:nvSpPr>
          <p:cNvPr id="181" name="Google Shape;181;p29"/>
          <p:cNvSpPr txBox="1"/>
          <p:nvPr/>
        </p:nvSpPr>
        <p:spPr>
          <a:xfrm>
            <a:off x="2584775" y="1252425"/>
            <a:ext cx="6066000" cy="571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Réponses :</a:t>
            </a:r>
            <a:endParaRPr sz="2400">
              <a:solidFill>
                <a:schemeClr val="lt1"/>
              </a:solidFill>
            </a:endParaRPr>
          </a:p>
        </p:txBody>
      </p:sp>
      <p:pic>
        <p:nvPicPr>
          <p:cNvPr id="182" name="Google Shape;182;p29"/>
          <p:cNvPicPr preferRelativeResize="0"/>
          <p:nvPr/>
        </p:nvPicPr>
        <p:blipFill>
          <a:blip r:embed="rId3">
            <a:alphaModFix/>
          </a:blip>
          <a:stretch>
            <a:fillRect/>
          </a:stretch>
        </p:blipFill>
        <p:spPr>
          <a:xfrm>
            <a:off x="152400" y="1976325"/>
            <a:ext cx="4116409" cy="3014775"/>
          </a:xfrm>
          <a:prstGeom prst="rect">
            <a:avLst/>
          </a:prstGeom>
          <a:noFill/>
          <a:ln>
            <a:noFill/>
          </a:ln>
        </p:spPr>
      </p:pic>
      <p:pic>
        <p:nvPicPr>
          <p:cNvPr id="183" name="Google Shape;183;p29" descr="Logo de Sorbonne Data Analytics"/>
          <p:cNvPicPr preferRelativeResize="0"/>
          <p:nvPr/>
        </p:nvPicPr>
        <p:blipFill rotWithShape="1">
          <a:blip r:embed="rId4">
            <a:alphaModFix/>
          </a:blip>
          <a:srcRect/>
          <a:stretch/>
        </p:blipFill>
        <p:spPr>
          <a:xfrm>
            <a:off x="7962775" y="0"/>
            <a:ext cx="1181225" cy="1181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0" title="Science des Données par Graphes"/>
          <p:cNvSpPr txBox="1"/>
          <p:nvPr/>
        </p:nvSpPr>
        <p:spPr>
          <a:xfrm>
            <a:off x="2319025" y="78175"/>
            <a:ext cx="4815300" cy="571500"/>
          </a:xfrm>
          <a:prstGeom prst="rect">
            <a:avLst/>
          </a:prstGeom>
          <a:noFill/>
          <a:ln>
            <a:noFill/>
          </a:ln>
        </p:spPr>
        <p:txBody>
          <a:bodyPr spcFirstLastPara="1" wrap="square" lIns="91425" tIns="91425" rIns="91425" bIns="91425" anchor="t" anchorCtr="0">
            <a:normAutofit fontScale="85000" lnSpcReduction="20000"/>
          </a:bodyPr>
          <a:lstStyle/>
          <a:p>
            <a:pPr marL="0" lvl="0" indent="0" algn="ctr" rtl="0">
              <a:spcBef>
                <a:spcPts val="0"/>
              </a:spcBef>
              <a:spcAft>
                <a:spcPts val="0"/>
              </a:spcAft>
              <a:buSzPct val="30555"/>
              <a:buNone/>
            </a:pPr>
            <a:r>
              <a:rPr lang="fr" sz="3600" b="1">
                <a:solidFill>
                  <a:schemeClr val="lt1"/>
                </a:solidFill>
              </a:rPr>
              <a:t>Penser en Graph</a:t>
            </a:r>
            <a:endParaRPr sz="1900" b="1">
              <a:solidFill>
                <a:schemeClr val="lt1"/>
              </a:solidFill>
            </a:endParaRPr>
          </a:p>
        </p:txBody>
      </p:sp>
      <p:sp>
        <p:nvSpPr>
          <p:cNvPr id="189" name="Google Shape;189;p30"/>
          <p:cNvSpPr txBox="1"/>
          <p:nvPr/>
        </p:nvSpPr>
        <p:spPr>
          <a:xfrm>
            <a:off x="2584775" y="1252425"/>
            <a:ext cx="6456600" cy="10248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Ce que vous savez :</a:t>
            </a:r>
            <a:endParaRPr sz="2400">
              <a:solidFill>
                <a:schemeClr val="lt1"/>
              </a:solidFill>
            </a:endParaRPr>
          </a:p>
          <a:p>
            <a:pPr marL="0" lvl="0" indent="0" algn="l" rtl="0">
              <a:spcBef>
                <a:spcPts val="0"/>
              </a:spcBef>
              <a:spcAft>
                <a:spcPts val="0"/>
              </a:spcAft>
              <a:buNone/>
            </a:pPr>
            <a:endParaRPr sz="2400">
              <a:solidFill>
                <a:schemeClr val="lt1"/>
              </a:solidFill>
            </a:endParaRPr>
          </a:p>
        </p:txBody>
      </p:sp>
      <p:sp>
        <p:nvSpPr>
          <p:cNvPr id="190" name="Google Shape;190;p30"/>
          <p:cNvSpPr txBox="1"/>
          <p:nvPr/>
        </p:nvSpPr>
        <p:spPr>
          <a:xfrm>
            <a:off x="63825" y="2483550"/>
            <a:ext cx="5053500" cy="2107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fr" sz="2400">
                <a:solidFill>
                  <a:schemeClr val="lt1"/>
                </a:solidFill>
              </a:rPr>
              <a:t>Vous avez appris que les bases de données graphe persistent la donnée en structure de Nodes et Relationships.</a:t>
            </a:r>
            <a:endParaRPr sz="2400">
              <a:solidFill>
                <a:schemeClr val="lt1"/>
              </a:solidFill>
            </a:endParaRPr>
          </a:p>
        </p:txBody>
      </p:sp>
      <p:pic>
        <p:nvPicPr>
          <p:cNvPr id="191" name="Google Shape;191;p30"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title="Science des Données par Graphes"/>
          <p:cNvSpPr txBox="1"/>
          <p:nvPr/>
        </p:nvSpPr>
        <p:spPr>
          <a:xfrm>
            <a:off x="2584775" y="99600"/>
            <a:ext cx="5424900" cy="571500"/>
          </a:xfrm>
          <a:prstGeom prst="rect">
            <a:avLst/>
          </a:prstGeom>
          <a:noFill/>
          <a:ln>
            <a:noFill/>
          </a:ln>
        </p:spPr>
        <p:txBody>
          <a:bodyPr spcFirstLastPara="1" wrap="square" lIns="91425" tIns="91425" rIns="91425" bIns="91425" anchor="t" anchorCtr="0">
            <a:normAutofit fontScale="85000" lnSpcReduction="20000"/>
          </a:bodyPr>
          <a:lstStyle/>
          <a:p>
            <a:pPr marL="0" lvl="0" indent="0" algn="ctr" rtl="0">
              <a:spcBef>
                <a:spcPts val="0"/>
              </a:spcBef>
              <a:spcAft>
                <a:spcPts val="0"/>
              </a:spcAft>
              <a:buSzPct val="30555"/>
              <a:buNone/>
            </a:pPr>
            <a:r>
              <a:rPr lang="fr" sz="3600" b="1">
                <a:solidFill>
                  <a:schemeClr val="lt1"/>
                </a:solidFill>
              </a:rPr>
              <a:t>Penser en Graph</a:t>
            </a:r>
            <a:endParaRPr sz="1900" b="1">
              <a:solidFill>
                <a:schemeClr val="lt1"/>
              </a:solidFill>
            </a:endParaRPr>
          </a:p>
        </p:txBody>
      </p:sp>
      <p:sp>
        <p:nvSpPr>
          <p:cNvPr id="197" name="Google Shape;197;p31"/>
          <p:cNvSpPr txBox="1"/>
          <p:nvPr/>
        </p:nvSpPr>
        <p:spPr>
          <a:xfrm>
            <a:off x="2584775" y="1252425"/>
            <a:ext cx="6456600" cy="6498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fr" sz="2400">
                <a:solidFill>
                  <a:schemeClr val="lt1"/>
                </a:solidFill>
              </a:rPr>
              <a:t>Rappel</a:t>
            </a:r>
            <a:endParaRPr sz="2400">
              <a:solidFill>
                <a:schemeClr val="lt1"/>
              </a:solidFill>
            </a:endParaRPr>
          </a:p>
        </p:txBody>
      </p:sp>
      <p:sp>
        <p:nvSpPr>
          <p:cNvPr id="198" name="Google Shape;198;p31"/>
          <p:cNvSpPr txBox="1"/>
          <p:nvPr/>
        </p:nvSpPr>
        <p:spPr>
          <a:xfrm>
            <a:off x="63825" y="2483550"/>
            <a:ext cx="5053500" cy="2482800"/>
          </a:xfrm>
          <a:prstGeom prst="rect">
            <a:avLst/>
          </a:prstGeom>
          <a:noFill/>
          <a:ln>
            <a:noFill/>
          </a:ln>
        </p:spPr>
        <p:txBody>
          <a:bodyPr spcFirstLastPara="1" wrap="square" lIns="91425" tIns="91425" rIns="91425" bIns="91425" anchor="t" anchorCtr="0">
            <a:normAutofit lnSpcReduction="20000"/>
          </a:bodyPr>
          <a:lstStyle/>
          <a:p>
            <a:pPr marL="457200" lvl="0" indent="-381000" algn="l" rtl="0">
              <a:spcBef>
                <a:spcPts val="0"/>
              </a:spcBef>
              <a:spcAft>
                <a:spcPts val="0"/>
              </a:spcAft>
              <a:buClr>
                <a:schemeClr val="lt1"/>
              </a:buClr>
              <a:buSzPts val="2400"/>
              <a:buChar char="●"/>
            </a:pPr>
            <a:r>
              <a:rPr lang="fr" sz="2400">
                <a:solidFill>
                  <a:schemeClr val="lt1"/>
                </a:solidFill>
              </a:rPr>
              <a:t>Les relationships sont traitées avec le même niveau d’importance que les nodes qu’elles relient.</a:t>
            </a:r>
            <a:endParaRPr sz="2400">
              <a:solidFill>
                <a:schemeClr val="lt1"/>
              </a:solidFill>
            </a:endParaRPr>
          </a:p>
          <a:p>
            <a:pPr marL="457200" lvl="0" indent="-381000" algn="l" rtl="0">
              <a:spcBef>
                <a:spcPts val="0"/>
              </a:spcBef>
              <a:spcAft>
                <a:spcPts val="0"/>
              </a:spcAft>
              <a:buClr>
                <a:schemeClr val="lt1"/>
              </a:buClr>
              <a:buSzPts val="2400"/>
              <a:buChar char="●"/>
            </a:pPr>
            <a:r>
              <a:rPr lang="fr" sz="2400">
                <a:solidFill>
                  <a:schemeClr val="lt1"/>
                </a:solidFill>
              </a:rPr>
              <a:t>Ce n’est pas le cas pour les autres bases de données que vous avez pu rencontrer.</a:t>
            </a:r>
            <a:endParaRPr sz="2400">
              <a:solidFill>
                <a:schemeClr val="lt1"/>
              </a:solidFill>
            </a:endParaRPr>
          </a:p>
        </p:txBody>
      </p:sp>
      <p:pic>
        <p:nvPicPr>
          <p:cNvPr id="199" name="Google Shape;199;p31"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2" title="Science des Données par Graphes"/>
          <p:cNvSpPr txBox="1"/>
          <p:nvPr/>
        </p:nvSpPr>
        <p:spPr>
          <a:xfrm>
            <a:off x="2397175" y="99600"/>
            <a:ext cx="5424900" cy="571500"/>
          </a:xfrm>
          <a:prstGeom prst="rect">
            <a:avLst/>
          </a:prstGeom>
          <a:noFill/>
          <a:ln>
            <a:noFill/>
          </a:ln>
        </p:spPr>
        <p:txBody>
          <a:bodyPr spcFirstLastPara="1" wrap="square" lIns="91425" tIns="91425" rIns="91425" bIns="91425" anchor="t" anchorCtr="0">
            <a:normAutofit fontScale="85000" lnSpcReduction="20000"/>
          </a:bodyPr>
          <a:lstStyle/>
          <a:p>
            <a:pPr marL="0" lvl="0" indent="0" algn="ctr" rtl="0">
              <a:spcBef>
                <a:spcPts val="0"/>
              </a:spcBef>
              <a:spcAft>
                <a:spcPts val="0"/>
              </a:spcAft>
              <a:buSzPct val="30555"/>
              <a:buNone/>
            </a:pPr>
            <a:r>
              <a:rPr lang="fr" sz="3600" b="1">
                <a:solidFill>
                  <a:schemeClr val="lt1"/>
                </a:solidFill>
              </a:rPr>
              <a:t>Penser en Graph</a:t>
            </a:r>
            <a:endParaRPr sz="1900" b="1">
              <a:solidFill>
                <a:schemeClr val="lt1"/>
              </a:solidFill>
            </a:endParaRPr>
          </a:p>
        </p:txBody>
      </p:sp>
      <p:sp>
        <p:nvSpPr>
          <p:cNvPr id="205" name="Google Shape;205;p32"/>
          <p:cNvSpPr txBox="1"/>
          <p:nvPr/>
        </p:nvSpPr>
        <p:spPr>
          <a:xfrm>
            <a:off x="2584775" y="1252425"/>
            <a:ext cx="6456600" cy="649800"/>
          </a:xfrm>
          <a:prstGeom prst="rect">
            <a:avLst/>
          </a:prstGeom>
          <a:noFill/>
          <a:ln>
            <a:noFill/>
          </a:ln>
        </p:spPr>
        <p:txBody>
          <a:bodyPr spcFirstLastPara="1" wrap="square" lIns="91425" tIns="91425" rIns="91425" bIns="91425" anchor="t" anchorCtr="0">
            <a:normAutofit fontScale="92500"/>
          </a:bodyPr>
          <a:lstStyle/>
          <a:p>
            <a:pPr marL="0" lvl="0" indent="0" algn="l" rtl="0">
              <a:spcBef>
                <a:spcPts val="0"/>
              </a:spcBef>
              <a:spcAft>
                <a:spcPts val="0"/>
              </a:spcAft>
              <a:buNone/>
            </a:pPr>
            <a:r>
              <a:rPr lang="fr" sz="2400">
                <a:solidFill>
                  <a:schemeClr val="lt1"/>
                </a:solidFill>
              </a:rPr>
              <a:t>Problématiques des bases de données non graph</a:t>
            </a:r>
            <a:endParaRPr sz="2400">
              <a:solidFill>
                <a:schemeClr val="lt1"/>
              </a:solidFill>
            </a:endParaRPr>
          </a:p>
        </p:txBody>
      </p:sp>
      <p:sp>
        <p:nvSpPr>
          <p:cNvPr id="206" name="Google Shape;206;p32"/>
          <p:cNvSpPr txBox="1"/>
          <p:nvPr/>
        </p:nvSpPr>
        <p:spPr>
          <a:xfrm>
            <a:off x="63825" y="2483550"/>
            <a:ext cx="5053500" cy="2482800"/>
          </a:xfrm>
          <a:prstGeom prst="rect">
            <a:avLst/>
          </a:prstGeom>
          <a:noFill/>
          <a:ln>
            <a:noFill/>
          </a:ln>
        </p:spPr>
        <p:txBody>
          <a:bodyPr spcFirstLastPara="1" wrap="square" lIns="91425" tIns="91425" rIns="91425" bIns="91425" anchor="t" anchorCtr="0">
            <a:normAutofit fontScale="92500" lnSpcReduction="20000"/>
          </a:bodyPr>
          <a:lstStyle/>
          <a:p>
            <a:pPr marL="457200" lvl="0" indent="-369570" algn="l" rtl="0">
              <a:spcBef>
                <a:spcPts val="0"/>
              </a:spcBef>
              <a:spcAft>
                <a:spcPts val="0"/>
              </a:spcAft>
              <a:buClr>
                <a:schemeClr val="lt1"/>
              </a:buClr>
              <a:buSzPct val="100000"/>
              <a:buChar char="●"/>
            </a:pPr>
            <a:r>
              <a:rPr lang="fr" sz="2400">
                <a:solidFill>
                  <a:schemeClr val="lt1"/>
                </a:solidFill>
              </a:rPr>
              <a:t>Performance réduite des requêtes sur des schémas complexes avec des clés étrangères et des relations many-to-many.</a:t>
            </a:r>
            <a:endParaRPr sz="2400">
              <a:solidFill>
                <a:schemeClr val="lt1"/>
              </a:solidFill>
            </a:endParaRPr>
          </a:p>
          <a:p>
            <a:pPr marL="457200" lvl="0" indent="-369570" algn="l" rtl="0">
              <a:spcBef>
                <a:spcPts val="0"/>
              </a:spcBef>
              <a:spcAft>
                <a:spcPts val="0"/>
              </a:spcAft>
              <a:buClr>
                <a:schemeClr val="lt1"/>
              </a:buClr>
              <a:buSzPct val="100000"/>
              <a:buChar char="●"/>
            </a:pPr>
            <a:r>
              <a:rPr lang="fr" sz="2400">
                <a:solidFill>
                  <a:schemeClr val="lt1"/>
                </a:solidFill>
              </a:rPr>
              <a:t>Traitement de données hiérarchiques ou arbre avec réponse se trouvant à une profondeur inconnue ou variable.</a:t>
            </a:r>
            <a:endParaRPr sz="2400">
              <a:solidFill>
                <a:schemeClr val="lt1"/>
              </a:solidFill>
            </a:endParaRPr>
          </a:p>
        </p:txBody>
      </p:sp>
      <p:pic>
        <p:nvPicPr>
          <p:cNvPr id="207" name="Google Shape;207;p32"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3" title="Science des Données par Graphes"/>
          <p:cNvSpPr txBox="1"/>
          <p:nvPr/>
        </p:nvSpPr>
        <p:spPr>
          <a:xfrm>
            <a:off x="2303375" y="99600"/>
            <a:ext cx="5424900" cy="571500"/>
          </a:xfrm>
          <a:prstGeom prst="rect">
            <a:avLst/>
          </a:prstGeom>
          <a:noFill/>
          <a:ln>
            <a:noFill/>
          </a:ln>
        </p:spPr>
        <p:txBody>
          <a:bodyPr spcFirstLastPara="1" wrap="square" lIns="91425" tIns="91425" rIns="91425" bIns="91425" anchor="t" anchorCtr="0">
            <a:normAutofit fontScale="85000" lnSpcReduction="20000"/>
          </a:bodyPr>
          <a:lstStyle/>
          <a:p>
            <a:pPr marL="0" lvl="0" indent="0" algn="ctr" rtl="0">
              <a:spcBef>
                <a:spcPts val="0"/>
              </a:spcBef>
              <a:spcAft>
                <a:spcPts val="0"/>
              </a:spcAft>
              <a:buSzPct val="30555"/>
              <a:buNone/>
            </a:pPr>
            <a:r>
              <a:rPr lang="fr" sz="3600" b="1">
                <a:solidFill>
                  <a:schemeClr val="lt1"/>
                </a:solidFill>
              </a:rPr>
              <a:t>Penser en Graph</a:t>
            </a:r>
            <a:endParaRPr sz="1900" b="1">
              <a:solidFill>
                <a:schemeClr val="lt1"/>
              </a:solidFill>
            </a:endParaRPr>
          </a:p>
        </p:txBody>
      </p:sp>
      <p:sp>
        <p:nvSpPr>
          <p:cNvPr id="213" name="Google Shape;213;p33"/>
          <p:cNvSpPr txBox="1"/>
          <p:nvPr/>
        </p:nvSpPr>
        <p:spPr>
          <a:xfrm>
            <a:off x="2584775" y="1252425"/>
            <a:ext cx="6456600" cy="649800"/>
          </a:xfrm>
          <a:prstGeom prst="rect">
            <a:avLst/>
          </a:prstGeom>
          <a:noFill/>
          <a:ln>
            <a:noFill/>
          </a:ln>
        </p:spPr>
        <p:txBody>
          <a:bodyPr spcFirstLastPara="1" wrap="square" lIns="91425" tIns="91425" rIns="91425" bIns="91425" anchor="t" anchorCtr="0">
            <a:normAutofit fontScale="92500"/>
          </a:bodyPr>
          <a:lstStyle/>
          <a:p>
            <a:pPr marL="0" lvl="0" indent="0" algn="l" rtl="0">
              <a:spcBef>
                <a:spcPts val="0"/>
              </a:spcBef>
              <a:spcAft>
                <a:spcPts val="0"/>
              </a:spcAft>
              <a:buNone/>
            </a:pPr>
            <a:r>
              <a:rPr lang="fr" sz="2400">
                <a:solidFill>
                  <a:schemeClr val="lt1"/>
                </a:solidFill>
              </a:rPr>
              <a:t>Problématiques des bases de données non graph</a:t>
            </a:r>
            <a:endParaRPr sz="2400">
              <a:solidFill>
                <a:schemeClr val="lt1"/>
              </a:solidFill>
            </a:endParaRPr>
          </a:p>
        </p:txBody>
      </p:sp>
      <p:sp>
        <p:nvSpPr>
          <p:cNvPr id="214" name="Google Shape;214;p33"/>
          <p:cNvSpPr txBox="1"/>
          <p:nvPr/>
        </p:nvSpPr>
        <p:spPr>
          <a:xfrm>
            <a:off x="63825" y="2483550"/>
            <a:ext cx="5053500" cy="2482800"/>
          </a:xfrm>
          <a:prstGeom prst="rect">
            <a:avLst/>
          </a:prstGeom>
          <a:noFill/>
          <a:ln>
            <a:noFill/>
          </a:ln>
        </p:spPr>
        <p:txBody>
          <a:bodyPr spcFirstLastPara="1" wrap="square" lIns="91425" tIns="91425" rIns="91425" bIns="91425" anchor="t" anchorCtr="0">
            <a:normAutofit/>
          </a:bodyPr>
          <a:lstStyle/>
          <a:p>
            <a:pPr marL="457200" lvl="0" indent="-381000" algn="l" rtl="0">
              <a:spcBef>
                <a:spcPts val="0"/>
              </a:spcBef>
              <a:spcAft>
                <a:spcPts val="0"/>
              </a:spcAft>
              <a:buClr>
                <a:schemeClr val="lt1"/>
              </a:buClr>
              <a:buSzPts val="2400"/>
              <a:buChar char="●"/>
            </a:pPr>
            <a:r>
              <a:rPr lang="fr" sz="2400">
                <a:solidFill>
                  <a:schemeClr val="lt1"/>
                </a:solidFill>
              </a:rPr>
              <a:t>Trouver un chemin à travers un ensemble complexe de données qui changent souvent.</a:t>
            </a:r>
            <a:endParaRPr sz="2400">
              <a:solidFill>
                <a:schemeClr val="lt1"/>
              </a:solidFill>
            </a:endParaRPr>
          </a:p>
          <a:p>
            <a:pPr marL="457200" lvl="0" indent="-381000" algn="l" rtl="0">
              <a:spcBef>
                <a:spcPts val="0"/>
              </a:spcBef>
              <a:spcAft>
                <a:spcPts val="0"/>
              </a:spcAft>
              <a:buClr>
                <a:schemeClr val="lt1"/>
              </a:buClr>
              <a:buSzPts val="2400"/>
              <a:buChar char="●"/>
            </a:pPr>
            <a:r>
              <a:rPr lang="fr" sz="2400">
                <a:solidFill>
                  <a:schemeClr val="lt1"/>
                </a:solidFill>
              </a:rPr>
              <a:t>Simplement exprimer ce que vous cherchez dans la donnée est souvent difficile.</a:t>
            </a:r>
            <a:endParaRPr sz="2400">
              <a:solidFill>
                <a:schemeClr val="lt1"/>
              </a:solidFill>
            </a:endParaRPr>
          </a:p>
        </p:txBody>
      </p:sp>
      <p:pic>
        <p:nvPicPr>
          <p:cNvPr id="215" name="Google Shape;215;p33"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4" title="Science des Données par Graphes"/>
          <p:cNvSpPr txBox="1"/>
          <p:nvPr/>
        </p:nvSpPr>
        <p:spPr>
          <a:xfrm>
            <a:off x="2272100" y="99600"/>
            <a:ext cx="5424900" cy="571500"/>
          </a:xfrm>
          <a:prstGeom prst="rect">
            <a:avLst/>
          </a:prstGeom>
          <a:noFill/>
          <a:ln>
            <a:noFill/>
          </a:ln>
        </p:spPr>
        <p:txBody>
          <a:bodyPr spcFirstLastPara="1" wrap="square" lIns="91425" tIns="91425" rIns="91425" bIns="91425" anchor="t" anchorCtr="0">
            <a:normAutofit fontScale="85000" lnSpcReduction="20000"/>
          </a:bodyPr>
          <a:lstStyle/>
          <a:p>
            <a:pPr marL="0" lvl="0" indent="0" algn="ctr" rtl="0">
              <a:spcBef>
                <a:spcPts val="0"/>
              </a:spcBef>
              <a:spcAft>
                <a:spcPts val="0"/>
              </a:spcAft>
              <a:buSzPct val="30555"/>
              <a:buNone/>
            </a:pPr>
            <a:r>
              <a:rPr lang="fr" sz="3600" b="1">
                <a:solidFill>
                  <a:schemeClr val="lt1"/>
                </a:solidFill>
              </a:rPr>
              <a:t>Penser en Graph</a:t>
            </a:r>
            <a:endParaRPr sz="1900" b="1">
              <a:solidFill>
                <a:schemeClr val="lt1"/>
              </a:solidFill>
            </a:endParaRPr>
          </a:p>
        </p:txBody>
      </p:sp>
      <p:sp>
        <p:nvSpPr>
          <p:cNvPr id="221" name="Google Shape;221;p34"/>
          <p:cNvSpPr txBox="1"/>
          <p:nvPr/>
        </p:nvSpPr>
        <p:spPr>
          <a:xfrm>
            <a:off x="2584775" y="1252425"/>
            <a:ext cx="6456600" cy="649800"/>
          </a:xfrm>
          <a:prstGeom prst="rect">
            <a:avLst/>
          </a:prstGeom>
          <a:noFill/>
          <a:ln>
            <a:noFill/>
          </a:ln>
        </p:spPr>
        <p:txBody>
          <a:bodyPr spcFirstLastPara="1" wrap="square" lIns="91425" tIns="91425" rIns="91425" bIns="91425" anchor="t" anchorCtr="0">
            <a:normAutofit fontScale="92500"/>
          </a:bodyPr>
          <a:lstStyle/>
          <a:p>
            <a:pPr marL="0" lvl="0" indent="0" algn="l" rtl="0">
              <a:spcBef>
                <a:spcPts val="0"/>
              </a:spcBef>
              <a:spcAft>
                <a:spcPts val="0"/>
              </a:spcAft>
              <a:buNone/>
            </a:pPr>
            <a:r>
              <a:rPr lang="fr" sz="2400">
                <a:solidFill>
                  <a:schemeClr val="lt1"/>
                </a:solidFill>
              </a:rPr>
              <a:t>Problématiques des bases de données non graph</a:t>
            </a:r>
            <a:endParaRPr sz="2400">
              <a:solidFill>
                <a:schemeClr val="lt1"/>
              </a:solidFill>
            </a:endParaRPr>
          </a:p>
        </p:txBody>
      </p:sp>
      <p:sp>
        <p:nvSpPr>
          <p:cNvPr id="222" name="Google Shape;222;p34"/>
          <p:cNvSpPr txBox="1"/>
          <p:nvPr/>
        </p:nvSpPr>
        <p:spPr>
          <a:xfrm>
            <a:off x="63825" y="2483550"/>
            <a:ext cx="5053500" cy="2029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Ces problèmes résultent du fait qu’on a stocké en table alors que le besoin est de comprendre les relations plutôt que les rows.</a:t>
            </a:r>
            <a:endParaRPr sz="2400">
              <a:solidFill>
                <a:schemeClr val="lt1"/>
              </a:solidFill>
            </a:endParaRPr>
          </a:p>
        </p:txBody>
      </p:sp>
      <p:pic>
        <p:nvPicPr>
          <p:cNvPr id="223" name="Google Shape;223;p34"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5" title="Science des Données par Graphes"/>
          <p:cNvSpPr txBox="1"/>
          <p:nvPr/>
        </p:nvSpPr>
        <p:spPr>
          <a:xfrm>
            <a:off x="2319025" y="99600"/>
            <a:ext cx="5424900" cy="571500"/>
          </a:xfrm>
          <a:prstGeom prst="rect">
            <a:avLst/>
          </a:prstGeom>
          <a:noFill/>
          <a:ln>
            <a:noFill/>
          </a:ln>
        </p:spPr>
        <p:txBody>
          <a:bodyPr spcFirstLastPara="1" wrap="square" lIns="91425" tIns="91425" rIns="91425" bIns="91425" anchor="t" anchorCtr="0">
            <a:normAutofit fontScale="85000" lnSpcReduction="20000"/>
          </a:bodyPr>
          <a:lstStyle/>
          <a:p>
            <a:pPr marL="0" lvl="0" indent="0" algn="ctr" rtl="0">
              <a:spcBef>
                <a:spcPts val="0"/>
              </a:spcBef>
              <a:spcAft>
                <a:spcPts val="0"/>
              </a:spcAft>
              <a:buSzPct val="30555"/>
              <a:buNone/>
            </a:pPr>
            <a:r>
              <a:rPr lang="fr" sz="3600" b="1">
                <a:solidFill>
                  <a:schemeClr val="lt1"/>
                </a:solidFill>
              </a:rPr>
              <a:t>Penser en Graphe</a:t>
            </a:r>
            <a:endParaRPr sz="1900" b="1">
              <a:solidFill>
                <a:schemeClr val="lt1"/>
              </a:solidFill>
            </a:endParaRPr>
          </a:p>
        </p:txBody>
      </p:sp>
      <p:sp>
        <p:nvSpPr>
          <p:cNvPr id="229" name="Google Shape;229;p35"/>
          <p:cNvSpPr txBox="1"/>
          <p:nvPr/>
        </p:nvSpPr>
        <p:spPr>
          <a:xfrm>
            <a:off x="2584775" y="1252425"/>
            <a:ext cx="6456600" cy="6498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La problématique O(n)</a:t>
            </a:r>
            <a:endParaRPr sz="2400">
              <a:solidFill>
                <a:schemeClr val="lt1"/>
              </a:solidFill>
            </a:endParaRPr>
          </a:p>
        </p:txBody>
      </p:sp>
      <p:sp>
        <p:nvSpPr>
          <p:cNvPr id="230" name="Google Shape;230;p35"/>
          <p:cNvSpPr txBox="1"/>
          <p:nvPr/>
        </p:nvSpPr>
        <p:spPr>
          <a:xfrm>
            <a:off x="63825" y="2483550"/>
            <a:ext cx="5053500" cy="2029500"/>
          </a:xfrm>
          <a:prstGeom prst="rect">
            <a:avLst/>
          </a:prstGeom>
          <a:noFill/>
          <a:ln>
            <a:noFill/>
          </a:ln>
        </p:spPr>
        <p:txBody>
          <a:bodyPr spcFirstLastPara="1" wrap="square" lIns="91425" tIns="91425" rIns="91425" bIns="91425" anchor="t" anchorCtr="0">
            <a:normAutofit fontScale="85000"/>
          </a:bodyPr>
          <a:lstStyle/>
          <a:p>
            <a:pPr marL="457200" lvl="0" indent="-358140" algn="l" rtl="0">
              <a:spcBef>
                <a:spcPts val="0"/>
              </a:spcBef>
              <a:spcAft>
                <a:spcPts val="0"/>
              </a:spcAft>
              <a:buClr>
                <a:schemeClr val="lt1"/>
              </a:buClr>
              <a:buSzPct val="100000"/>
              <a:buChar char="❖"/>
            </a:pPr>
            <a:r>
              <a:rPr lang="fr" sz="2400">
                <a:solidFill>
                  <a:schemeClr val="lt1"/>
                </a:solidFill>
              </a:rPr>
              <a:t>Le stockage en Colonnes ou rows est la plus ancienne méthode.</a:t>
            </a:r>
            <a:endParaRPr sz="2400">
              <a:solidFill>
                <a:schemeClr val="lt1"/>
              </a:solidFill>
            </a:endParaRPr>
          </a:p>
          <a:p>
            <a:pPr marL="457200" lvl="0" indent="-358140" algn="l" rtl="0">
              <a:spcBef>
                <a:spcPts val="0"/>
              </a:spcBef>
              <a:spcAft>
                <a:spcPts val="0"/>
              </a:spcAft>
              <a:buClr>
                <a:schemeClr val="lt1"/>
              </a:buClr>
              <a:buSzPct val="100000"/>
              <a:buChar char="❖"/>
            </a:pPr>
            <a:r>
              <a:rPr lang="fr" sz="2400">
                <a:solidFill>
                  <a:schemeClr val="lt1"/>
                </a:solidFill>
              </a:rPr>
              <a:t>Le stockage tabulaire est une méthodologie qui a fait ses preuves. </a:t>
            </a:r>
            <a:endParaRPr sz="2400">
              <a:solidFill>
                <a:schemeClr val="lt1"/>
              </a:solidFill>
            </a:endParaRPr>
          </a:p>
          <a:p>
            <a:pPr marL="457200" lvl="0" indent="-358140" algn="l" rtl="0">
              <a:spcBef>
                <a:spcPts val="0"/>
              </a:spcBef>
              <a:spcAft>
                <a:spcPts val="0"/>
              </a:spcAft>
              <a:buClr>
                <a:schemeClr val="lt1"/>
              </a:buClr>
              <a:buSzPct val="100000"/>
              <a:buChar char="❖"/>
            </a:pPr>
            <a:r>
              <a:rPr lang="fr" sz="2400">
                <a:solidFill>
                  <a:schemeClr val="lt1"/>
                </a:solidFill>
              </a:rPr>
              <a:t>Il répond bien à de nombreux besoins</a:t>
            </a:r>
            <a:endParaRPr sz="2400">
              <a:solidFill>
                <a:schemeClr val="lt1"/>
              </a:solidFill>
            </a:endParaRPr>
          </a:p>
        </p:txBody>
      </p:sp>
      <p:pic>
        <p:nvPicPr>
          <p:cNvPr id="231" name="Google Shape;231;p35"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6" title="Science des Données par Graphes"/>
          <p:cNvSpPr txBox="1"/>
          <p:nvPr/>
        </p:nvSpPr>
        <p:spPr>
          <a:xfrm>
            <a:off x="2365925" y="99600"/>
            <a:ext cx="5424900" cy="571500"/>
          </a:xfrm>
          <a:prstGeom prst="rect">
            <a:avLst/>
          </a:prstGeom>
          <a:noFill/>
          <a:ln>
            <a:noFill/>
          </a:ln>
        </p:spPr>
        <p:txBody>
          <a:bodyPr spcFirstLastPara="1" wrap="square" lIns="91425" tIns="91425" rIns="91425" bIns="91425" anchor="t" anchorCtr="0">
            <a:normAutofit fontScale="85000" lnSpcReduction="20000"/>
          </a:bodyPr>
          <a:lstStyle/>
          <a:p>
            <a:pPr marL="0" lvl="0" indent="0" algn="ctr" rtl="0">
              <a:spcBef>
                <a:spcPts val="0"/>
              </a:spcBef>
              <a:spcAft>
                <a:spcPts val="0"/>
              </a:spcAft>
              <a:buSzPct val="30555"/>
              <a:buNone/>
            </a:pPr>
            <a:r>
              <a:rPr lang="fr" sz="3600" b="1">
                <a:solidFill>
                  <a:schemeClr val="lt1"/>
                </a:solidFill>
              </a:rPr>
              <a:t>Penser en Graph</a:t>
            </a:r>
            <a:endParaRPr sz="1900" b="1">
              <a:solidFill>
                <a:schemeClr val="lt1"/>
              </a:solidFill>
            </a:endParaRPr>
          </a:p>
        </p:txBody>
      </p:sp>
      <p:sp>
        <p:nvSpPr>
          <p:cNvPr id="237" name="Google Shape;237;p36"/>
          <p:cNvSpPr txBox="1"/>
          <p:nvPr/>
        </p:nvSpPr>
        <p:spPr>
          <a:xfrm>
            <a:off x="2584775" y="1252425"/>
            <a:ext cx="6456600" cy="6498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La problématique O(n)</a:t>
            </a:r>
            <a:endParaRPr sz="2400">
              <a:solidFill>
                <a:schemeClr val="lt1"/>
              </a:solidFill>
            </a:endParaRPr>
          </a:p>
        </p:txBody>
      </p:sp>
      <p:sp>
        <p:nvSpPr>
          <p:cNvPr id="238" name="Google Shape;238;p36"/>
          <p:cNvSpPr txBox="1"/>
          <p:nvPr/>
        </p:nvSpPr>
        <p:spPr>
          <a:xfrm>
            <a:off x="63825" y="2483550"/>
            <a:ext cx="5053500" cy="2029500"/>
          </a:xfrm>
          <a:prstGeom prst="rect">
            <a:avLst/>
          </a:prstGeom>
          <a:noFill/>
          <a:ln>
            <a:noFill/>
          </a:ln>
        </p:spPr>
        <p:txBody>
          <a:bodyPr spcFirstLastPara="1" wrap="square" lIns="91425" tIns="91425" rIns="91425" bIns="91425" anchor="t" anchorCtr="0">
            <a:normAutofit fontScale="85000" lnSpcReduction="20000"/>
          </a:bodyPr>
          <a:lstStyle/>
          <a:p>
            <a:pPr marL="457200" lvl="0" indent="-358140" algn="l" rtl="0">
              <a:spcBef>
                <a:spcPts val="0"/>
              </a:spcBef>
              <a:spcAft>
                <a:spcPts val="0"/>
              </a:spcAft>
              <a:buClr>
                <a:schemeClr val="lt1"/>
              </a:buClr>
              <a:buSzPct val="100000"/>
              <a:buChar char="❖"/>
            </a:pPr>
            <a:r>
              <a:rPr lang="fr" sz="2400">
                <a:solidFill>
                  <a:schemeClr val="lt1"/>
                </a:solidFill>
              </a:rPr>
              <a:t>Cependant la volumétrie des données ou des applications augmente de façon exponentielles.</a:t>
            </a:r>
            <a:endParaRPr sz="2400">
              <a:solidFill>
                <a:schemeClr val="lt1"/>
              </a:solidFill>
            </a:endParaRPr>
          </a:p>
          <a:p>
            <a:pPr marL="457200" lvl="0" indent="-358140" algn="l" rtl="0">
              <a:spcBef>
                <a:spcPts val="0"/>
              </a:spcBef>
              <a:spcAft>
                <a:spcPts val="0"/>
              </a:spcAft>
              <a:buClr>
                <a:schemeClr val="lt1"/>
              </a:buClr>
              <a:buSzPct val="100000"/>
              <a:buChar char="❖"/>
            </a:pPr>
            <a:r>
              <a:rPr lang="fr" sz="2400">
                <a:solidFill>
                  <a:schemeClr val="lt1"/>
                </a:solidFill>
              </a:rPr>
              <a:t>Les cas d’usage deviennent plus complexes. </a:t>
            </a:r>
            <a:endParaRPr sz="2400">
              <a:solidFill>
                <a:schemeClr val="lt1"/>
              </a:solidFill>
            </a:endParaRPr>
          </a:p>
          <a:p>
            <a:pPr marL="457200" lvl="0" indent="-358140" algn="l" rtl="0">
              <a:spcBef>
                <a:spcPts val="0"/>
              </a:spcBef>
              <a:spcAft>
                <a:spcPts val="0"/>
              </a:spcAft>
              <a:buClr>
                <a:schemeClr val="lt1"/>
              </a:buClr>
              <a:buSzPct val="100000"/>
              <a:buChar char="❖"/>
            </a:pPr>
            <a:r>
              <a:rPr lang="fr" sz="2400">
                <a:solidFill>
                  <a:schemeClr val="lt1"/>
                </a:solidFill>
              </a:rPr>
              <a:t>Le challenge : Manipuler les relationships.</a:t>
            </a:r>
            <a:endParaRPr sz="2400">
              <a:solidFill>
                <a:schemeClr val="lt1"/>
              </a:solidFill>
            </a:endParaRPr>
          </a:p>
        </p:txBody>
      </p:sp>
      <p:pic>
        <p:nvPicPr>
          <p:cNvPr id="239" name="Google Shape;239;p36"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7" title="Science des Données par Graphes"/>
          <p:cNvSpPr txBox="1"/>
          <p:nvPr/>
        </p:nvSpPr>
        <p:spPr>
          <a:xfrm>
            <a:off x="2272125" y="109450"/>
            <a:ext cx="5424900" cy="571500"/>
          </a:xfrm>
          <a:prstGeom prst="rect">
            <a:avLst/>
          </a:prstGeom>
          <a:noFill/>
          <a:ln>
            <a:noFill/>
          </a:ln>
        </p:spPr>
        <p:txBody>
          <a:bodyPr spcFirstLastPara="1" wrap="square" lIns="91425" tIns="91425" rIns="91425" bIns="91425" anchor="t" anchorCtr="0">
            <a:normAutofit fontScale="85000" lnSpcReduction="20000"/>
          </a:bodyPr>
          <a:lstStyle/>
          <a:p>
            <a:pPr marL="0" lvl="0" indent="0" algn="ctr" rtl="0">
              <a:spcBef>
                <a:spcPts val="0"/>
              </a:spcBef>
              <a:spcAft>
                <a:spcPts val="0"/>
              </a:spcAft>
              <a:buSzPct val="30555"/>
              <a:buNone/>
            </a:pPr>
            <a:r>
              <a:rPr lang="fr" sz="3600" b="1">
                <a:solidFill>
                  <a:schemeClr val="lt1"/>
                </a:solidFill>
              </a:rPr>
              <a:t>Penser en Graph</a:t>
            </a:r>
            <a:endParaRPr sz="1900" b="1">
              <a:solidFill>
                <a:schemeClr val="lt1"/>
              </a:solidFill>
            </a:endParaRPr>
          </a:p>
        </p:txBody>
      </p:sp>
      <p:sp>
        <p:nvSpPr>
          <p:cNvPr id="245" name="Google Shape;245;p37"/>
          <p:cNvSpPr txBox="1"/>
          <p:nvPr/>
        </p:nvSpPr>
        <p:spPr>
          <a:xfrm>
            <a:off x="2584775" y="1252425"/>
            <a:ext cx="6456600" cy="6498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La problématique O(n)</a:t>
            </a:r>
            <a:endParaRPr sz="2400">
              <a:solidFill>
                <a:schemeClr val="lt1"/>
              </a:solidFill>
            </a:endParaRPr>
          </a:p>
        </p:txBody>
      </p:sp>
      <p:sp>
        <p:nvSpPr>
          <p:cNvPr id="246" name="Google Shape;246;p37"/>
          <p:cNvSpPr txBox="1"/>
          <p:nvPr/>
        </p:nvSpPr>
        <p:spPr>
          <a:xfrm>
            <a:off x="63825" y="2105350"/>
            <a:ext cx="5053500" cy="2782800"/>
          </a:xfrm>
          <a:prstGeom prst="rect">
            <a:avLst/>
          </a:prstGeom>
          <a:noFill/>
          <a:ln>
            <a:noFill/>
          </a:ln>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fr" sz="2400">
                <a:solidFill>
                  <a:schemeClr val="lt1"/>
                </a:solidFill>
              </a:rPr>
              <a:t>Que se passe t-il quand  on requête à travers plusieurs tables ?</a:t>
            </a:r>
            <a:endParaRPr sz="2400">
              <a:solidFill>
                <a:schemeClr val="lt1"/>
              </a:solidFill>
            </a:endParaRPr>
          </a:p>
          <a:p>
            <a:pPr marL="457200" lvl="0" indent="-346710" algn="l" rtl="0">
              <a:spcBef>
                <a:spcPts val="0"/>
              </a:spcBef>
              <a:spcAft>
                <a:spcPts val="0"/>
              </a:spcAft>
              <a:buClr>
                <a:schemeClr val="lt1"/>
              </a:buClr>
              <a:buSzPct val="100000"/>
              <a:buChar char="❖"/>
            </a:pPr>
            <a:r>
              <a:rPr lang="fr" sz="2400">
                <a:solidFill>
                  <a:schemeClr val="lt1"/>
                </a:solidFill>
              </a:rPr>
              <a:t>Les jointure sont calculées en temps réel.</a:t>
            </a:r>
            <a:endParaRPr sz="2400">
              <a:solidFill>
                <a:schemeClr val="lt1"/>
              </a:solidFill>
            </a:endParaRPr>
          </a:p>
          <a:p>
            <a:pPr marL="457200" lvl="0" indent="-346710" algn="l" rtl="0">
              <a:spcBef>
                <a:spcPts val="0"/>
              </a:spcBef>
              <a:spcAft>
                <a:spcPts val="0"/>
              </a:spcAft>
              <a:buClr>
                <a:schemeClr val="lt1"/>
              </a:buClr>
              <a:buSzPct val="100000"/>
              <a:buChar char="❖"/>
            </a:pPr>
            <a:r>
              <a:rPr lang="fr" sz="2400">
                <a:solidFill>
                  <a:schemeClr val="lt1"/>
                </a:solidFill>
              </a:rPr>
              <a:t>Utilisation des index pour trouver les correspondances dans les tables cibles.</a:t>
            </a:r>
            <a:endParaRPr sz="2400">
              <a:solidFill>
                <a:schemeClr val="lt1"/>
              </a:solidFill>
            </a:endParaRPr>
          </a:p>
          <a:p>
            <a:pPr marL="0" lvl="0" indent="0" algn="l" rtl="0">
              <a:spcBef>
                <a:spcPts val="0"/>
              </a:spcBef>
              <a:spcAft>
                <a:spcPts val="0"/>
              </a:spcAft>
              <a:buNone/>
            </a:pPr>
            <a:r>
              <a:rPr lang="fr" sz="2400">
                <a:solidFill>
                  <a:schemeClr val="lt1"/>
                </a:solidFill>
              </a:rPr>
              <a:t>Conclusion : Plus la data grossit plus les indexes deviennent massifs.</a:t>
            </a:r>
            <a:endParaRPr sz="2400">
              <a:solidFill>
                <a:schemeClr val="lt1"/>
              </a:solidFill>
            </a:endParaRPr>
          </a:p>
          <a:p>
            <a:pPr marL="0" lvl="0" indent="0" algn="l" rtl="0">
              <a:spcBef>
                <a:spcPts val="0"/>
              </a:spcBef>
              <a:spcAft>
                <a:spcPts val="0"/>
              </a:spcAft>
              <a:buNone/>
            </a:pPr>
            <a:r>
              <a:rPr lang="fr" sz="2400">
                <a:solidFill>
                  <a:schemeClr val="lt1"/>
                </a:solidFill>
              </a:rPr>
              <a:t>Conséquences : Les temps de réponse deviennent long.</a:t>
            </a:r>
            <a:endParaRPr sz="2400">
              <a:solidFill>
                <a:schemeClr val="lt1"/>
              </a:solidFill>
            </a:endParaRPr>
          </a:p>
          <a:p>
            <a:pPr marL="0" lvl="0" indent="0" algn="l" rtl="0">
              <a:spcBef>
                <a:spcPts val="0"/>
              </a:spcBef>
              <a:spcAft>
                <a:spcPts val="0"/>
              </a:spcAft>
              <a:buClr>
                <a:schemeClr val="dk1"/>
              </a:buClr>
              <a:buSzPct val="45833"/>
              <a:buFont typeface="Arial"/>
              <a:buNone/>
            </a:pPr>
            <a:r>
              <a:rPr lang="fr" sz="2400">
                <a:solidFill>
                  <a:schemeClr val="lt1"/>
                </a:solidFill>
              </a:rPr>
              <a:t>Ce problème est connu sous le nom de Big O ou O(n)</a:t>
            </a:r>
            <a:endParaRPr sz="2400">
              <a:solidFill>
                <a:schemeClr val="lt1"/>
              </a:solidFill>
            </a:endParaRPr>
          </a:p>
        </p:txBody>
      </p:sp>
      <p:pic>
        <p:nvPicPr>
          <p:cNvPr id="247" name="Google Shape;247;p37"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8" title="Science des Données par Graphes"/>
          <p:cNvSpPr txBox="1"/>
          <p:nvPr/>
        </p:nvSpPr>
        <p:spPr>
          <a:xfrm>
            <a:off x="2381550" y="109425"/>
            <a:ext cx="5424900" cy="571500"/>
          </a:xfrm>
          <a:prstGeom prst="rect">
            <a:avLst/>
          </a:prstGeom>
          <a:noFill/>
          <a:ln>
            <a:noFill/>
          </a:ln>
        </p:spPr>
        <p:txBody>
          <a:bodyPr spcFirstLastPara="1" wrap="square" lIns="91425" tIns="91425" rIns="91425" bIns="91425" anchor="t" anchorCtr="0">
            <a:normAutofit fontScale="85000" lnSpcReduction="20000"/>
          </a:bodyPr>
          <a:lstStyle/>
          <a:p>
            <a:pPr marL="0" lvl="0" indent="0" algn="ctr" rtl="0">
              <a:spcBef>
                <a:spcPts val="0"/>
              </a:spcBef>
              <a:spcAft>
                <a:spcPts val="0"/>
              </a:spcAft>
              <a:buSzPct val="30555"/>
              <a:buNone/>
            </a:pPr>
            <a:r>
              <a:rPr lang="fr" sz="3600" b="1">
                <a:solidFill>
                  <a:schemeClr val="lt1"/>
                </a:solidFill>
              </a:rPr>
              <a:t>Penser en Graph</a:t>
            </a:r>
            <a:endParaRPr sz="1900" b="1">
              <a:solidFill>
                <a:schemeClr val="lt1"/>
              </a:solidFill>
            </a:endParaRPr>
          </a:p>
        </p:txBody>
      </p:sp>
      <p:sp>
        <p:nvSpPr>
          <p:cNvPr id="253" name="Google Shape;253;p38"/>
          <p:cNvSpPr txBox="1"/>
          <p:nvPr/>
        </p:nvSpPr>
        <p:spPr>
          <a:xfrm>
            <a:off x="2584775" y="1252425"/>
            <a:ext cx="6456600" cy="6498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La problématique O(n) : Solution Graph</a:t>
            </a:r>
            <a:endParaRPr sz="2400">
              <a:solidFill>
                <a:schemeClr val="lt1"/>
              </a:solidFill>
            </a:endParaRPr>
          </a:p>
        </p:txBody>
      </p:sp>
      <p:sp>
        <p:nvSpPr>
          <p:cNvPr id="254" name="Google Shape;254;p38"/>
          <p:cNvSpPr txBox="1"/>
          <p:nvPr/>
        </p:nvSpPr>
        <p:spPr>
          <a:xfrm>
            <a:off x="63825" y="2105350"/>
            <a:ext cx="5053500" cy="2892300"/>
          </a:xfrm>
          <a:prstGeom prst="rect">
            <a:avLst/>
          </a:prstGeom>
          <a:noFill/>
          <a:ln>
            <a:noFill/>
          </a:ln>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fr" sz="2400">
                <a:solidFill>
                  <a:schemeClr val="lt1"/>
                </a:solidFill>
              </a:rPr>
              <a:t>En mode Création :</a:t>
            </a:r>
            <a:endParaRPr sz="2400">
              <a:solidFill>
                <a:schemeClr val="lt1"/>
              </a:solidFill>
            </a:endParaRPr>
          </a:p>
          <a:p>
            <a:pPr marL="0" lvl="0" indent="0" algn="l" rtl="0">
              <a:spcBef>
                <a:spcPts val="0"/>
              </a:spcBef>
              <a:spcAft>
                <a:spcPts val="0"/>
              </a:spcAft>
              <a:buNone/>
            </a:pPr>
            <a:r>
              <a:rPr lang="fr" sz="2400">
                <a:solidFill>
                  <a:schemeClr val="lt1"/>
                </a:solidFill>
              </a:rPr>
              <a:t>Lors de la création des relations entre deux Nodes,le moteur  Graph crée un pointeur sur la Relation avec chaque Node.</a:t>
            </a:r>
            <a:endParaRPr sz="2400">
              <a:solidFill>
                <a:schemeClr val="lt1"/>
              </a:solidFill>
            </a:endParaRPr>
          </a:p>
          <a:p>
            <a:pPr marL="0" lvl="0" indent="0" algn="l" rtl="0">
              <a:spcBef>
                <a:spcPts val="0"/>
              </a:spcBef>
              <a:spcAft>
                <a:spcPts val="0"/>
              </a:spcAft>
              <a:buNone/>
            </a:pPr>
            <a:r>
              <a:rPr lang="fr" sz="2400">
                <a:solidFill>
                  <a:schemeClr val="lt1"/>
                </a:solidFill>
              </a:rPr>
              <a:t>En mode Lecteur:</a:t>
            </a:r>
            <a:endParaRPr sz="2400">
              <a:solidFill>
                <a:schemeClr val="lt1"/>
              </a:solidFill>
            </a:endParaRPr>
          </a:p>
          <a:p>
            <a:pPr marL="0" lvl="0" indent="0" algn="l" rtl="0">
              <a:spcBef>
                <a:spcPts val="0"/>
              </a:spcBef>
              <a:spcAft>
                <a:spcPts val="0"/>
              </a:spcAft>
              <a:buNone/>
            </a:pPr>
            <a:r>
              <a:rPr lang="fr" sz="2400">
                <a:solidFill>
                  <a:schemeClr val="lt1"/>
                </a:solidFill>
              </a:rPr>
              <a:t>A la lecture le moteur suit le pointeur  en mémoire au lieu de se baser sur les indexes comme le fait les bases SQL.</a:t>
            </a:r>
            <a:endParaRPr sz="2400">
              <a:solidFill>
                <a:schemeClr val="lt1"/>
              </a:solidFill>
            </a:endParaRPr>
          </a:p>
          <a:p>
            <a:pPr marL="0" lvl="0" indent="0" algn="l" rtl="0">
              <a:spcBef>
                <a:spcPts val="0"/>
              </a:spcBef>
              <a:spcAft>
                <a:spcPts val="0"/>
              </a:spcAft>
              <a:buNone/>
            </a:pPr>
            <a:r>
              <a:rPr lang="fr" sz="2400">
                <a:solidFill>
                  <a:schemeClr val="lt1"/>
                </a:solidFill>
              </a:rPr>
              <a:t>Conclusion : Le temps de réponse des requêtes reste CONSTANT relativement à la taille des Relations quelque soit le volume global de la donnée.</a:t>
            </a:r>
            <a:endParaRPr sz="2400">
              <a:solidFill>
                <a:schemeClr val="lt1"/>
              </a:solidFill>
            </a:endParaRPr>
          </a:p>
          <a:p>
            <a:pPr marL="0" lvl="0" indent="0" algn="l" rtl="0">
              <a:spcBef>
                <a:spcPts val="0"/>
              </a:spcBef>
              <a:spcAft>
                <a:spcPts val="0"/>
              </a:spcAft>
              <a:buNone/>
            </a:pPr>
            <a:endParaRPr sz="2400">
              <a:solidFill>
                <a:schemeClr val="lt1"/>
              </a:solidFill>
            </a:endParaRPr>
          </a:p>
        </p:txBody>
      </p:sp>
      <p:pic>
        <p:nvPicPr>
          <p:cNvPr id="255" name="Google Shape;255;p38"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9" title="Science des Données par Graphes"/>
          <p:cNvSpPr txBox="1"/>
          <p:nvPr/>
        </p:nvSpPr>
        <p:spPr>
          <a:xfrm>
            <a:off x="2741125" y="250150"/>
            <a:ext cx="5424900" cy="571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fr" sz="2400" b="1">
                <a:solidFill>
                  <a:schemeClr val="lt1"/>
                </a:solidFill>
              </a:rPr>
              <a:t>Avantages des bases Graph</a:t>
            </a:r>
            <a:endParaRPr sz="2400" b="1">
              <a:solidFill>
                <a:schemeClr val="lt1"/>
              </a:solidFill>
            </a:endParaRPr>
          </a:p>
        </p:txBody>
      </p:sp>
      <p:sp>
        <p:nvSpPr>
          <p:cNvPr id="261" name="Google Shape;261;p39"/>
          <p:cNvSpPr txBox="1"/>
          <p:nvPr/>
        </p:nvSpPr>
        <p:spPr>
          <a:xfrm>
            <a:off x="2584775" y="1252425"/>
            <a:ext cx="6456600" cy="1087500"/>
          </a:xfrm>
          <a:prstGeom prst="rect">
            <a:avLst/>
          </a:prstGeom>
          <a:noFill/>
          <a:ln>
            <a:noFill/>
          </a:ln>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fr" sz="2400">
                <a:solidFill>
                  <a:schemeClr val="lt1"/>
                </a:solidFill>
              </a:rPr>
              <a:t>Les moteurs Graph produisent des résultats plus performants pour des requêtes traversant les entités et sont idéals pour les besoins suivants:</a:t>
            </a:r>
            <a:endParaRPr sz="2400">
              <a:solidFill>
                <a:schemeClr val="lt1"/>
              </a:solidFill>
            </a:endParaRPr>
          </a:p>
        </p:txBody>
      </p:sp>
      <p:sp>
        <p:nvSpPr>
          <p:cNvPr id="262" name="Google Shape;262;p39"/>
          <p:cNvSpPr txBox="1"/>
          <p:nvPr/>
        </p:nvSpPr>
        <p:spPr>
          <a:xfrm>
            <a:off x="0" y="2571750"/>
            <a:ext cx="5053500" cy="2144400"/>
          </a:xfrm>
          <a:prstGeom prst="rect">
            <a:avLst/>
          </a:prstGeom>
          <a:noFill/>
          <a:ln>
            <a:noFill/>
          </a:ln>
        </p:spPr>
        <p:txBody>
          <a:bodyPr spcFirstLastPara="1" wrap="square" lIns="91425" tIns="91425" rIns="91425" bIns="91425" anchor="t" anchorCtr="0">
            <a:normAutofit fontScale="92500" lnSpcReduction="20000"/>
          </a:bodyPr>
          <a:lstStyle/>
          <a:p>
            <a:pPr marL="457200" lvl="0" indent="-369570" algn="l" rtl="0">
              <a:spcBef>
                <a:spcPts val="0"/>
              </a:spcBef>
              <a:spcAft>
                <a:spcPts val="0"/>
              </a:spcAft>
              <a:buClr>
                <a:schemeClr val="lt1"/>
              </a:buClr>
              <a:buSzPct val="100000"/>
              <a:buChar char="➢"/>
            </a:pPr>
            <a:r>
              <a:rPr lang="fr" sz="2400">
                <a:solidFill>
                  <a:schemeClr val="lt1"/>
                </a:solidFill>
              </a:rPr>
              <a:t>Comprendre les relations entre entités.</a:t>
            </a:r>
            <a:endParaRPr sz="2400">
              <a:solidFill>
                <a:schemeClr val="lt1"/>
              </a:solidFill>
            </a:endParaRPr>
          </a:p>
          <a:p>
            <a:pPr marL="457200" lvl="0" indent="-369570" algn="l" rtl="0">
              <a:spcBef>
                <a:spcPts val="0"/>
              </a:spcBef>
              <a:spcAft>
                <a:spcPts val="0"/>
              </a:spcAft>
              <a:buClr>
                <a:schemeClr val="lt1"/>
              </a:buClr>
              <a:buSzPct val="100000"/>
              <a:buChar char="➢"/>
            </a:pPr>
            <a:r>
              <a:rPr lang="fr" sz="2400">
                <a:solidFill>
                  <a:schemeClr val="lt1"/>
                </a:solidFill>
              </a:rPr>
              <a:t>Données au-référencées du même type. Par exemple une hiérarchie d’employé d’une entreprise.</a:t>
            </a:r>
            <a:endParaRPr sz="2400">
              <a:solidFill>
                <a:schemeClr val="lt1"/>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endParaRPr sz="2400">
              <a:solidFill>
                <a:schemeClr val="lt1"/>
              </a:solidFill>
            </a:endParaRPr>
          </a:p>
        </p:txBody>
      </p:sp>
      <p:pic>
        <p:nvPicPr>
          <p:cNvPr id="263" name="Google Shape;263;p39"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0"/>
          <p:cNvSpPr txBox="1"/>
          <p:nvPr/>
        </p:nvSpPr>
        <p:spPr>
          <a:xfrm>
            <a:off x="2584775" y="1252425"/>
            <a:ext cx="6456600" cy="1087500"/>
          </a:xfrm>
          <a:prstGeom prst="rect">
            <a:avLst/>
          </a:prstGeom>
          <a:noFill/>
          <a:ln>
            <a:noFill/>
          </a:ln>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fr" sz="2400">
                <a:solidFill>
                  <a:schemeClr val="lt1"/>
                </a:solidFill>
              </a:rPr>
              <a:t>Les moteurs Graph produisent des résultats plus performants pour des requêtes traversant les entités et sont idéals pour les besoins suivants:</a:t>
            </a:r>
            <a:endParaRPr sz="2400">
              <a:solidFill>
                <a:schemeClr val="lt1"/>
              </a:solidFill>
            </a:endParaRPr>
          </a:p>
        </p:txBody>
      </p:sp>
      <p:sp>
        <p:nvSpPr>
          <p:cNvPr id="269" name="Google Shape;269;p40"/>
          <p:cNvSpPr txBox="1"/>
          <p:nvPr/>
        </p:nvSpPr>
        <p:spPr>
          <a:xfrm>
            <a:off x="63825" y="2339925"/>
            <a:ext cx="5053500" cy="2563800"/>
          </a:xfrm>
          <a:prstGeom prst="rect">
            <a:avLst/>
          </a:prstGeom>
          <a:noFill/>
          <a:ln>
            <a:noFill/>
          </a:ln>
        </p:spPr>
        <p:txBody>
          <a:bodyPr spcFirstLastPara="1" wrap="square" lIns="91425" tIns="91425" rIns="91425" bIns="91425" anchor="t" anchorCtr="0">
            <a:normAutofit fontScale="85000" lnSpcReduction="20000"/>
          </a:bodyPr>
          <a:lstStyle/>
          <a:p>
            <a:pPr marL="457200" lvl="0" indent="-358140" algn="l" rtl="0">
              <a:spcBef>
                <a:spcPts val="0"/>
              </a:spcBef>
              <a:spcAft>
                <a:spcPts val="0"/>
              </a:spcAft>
              <a:buClr>
                <a:schemeClr val="lt1"/>
              </a:buClr>
              <a:buSzPct val="100000"/>
              <a:buChar char="➢"/>
            </a:pPr>
            <a:r>
              <a:rPr lang="fr" sz="2400">
                <a:solidFill>
                  <a:schemeClr val="lt1"/>
                </a:solidFill>
              </a:rPr>
              <a:t>Explorer des relations de profondeur variable ou inconnue - par exemple, l'utilisation de pièces dans une usine.</a:t>
            </a:r>
            <a:endParaRPr sz="2400">
              <a:solidFill>
                <a:schemeClr val="lt1"/>
              </a:solidFill>
            </a:endParaRPr>
          </a:p>
          <a:p>
            <a:pPr marL="457200" lvl="0" indent="-358140" algn="l" rtl="0">
              <a:spcBef>
                <a:spcPts val="0"/>
              </a:spcBef>
              <a:spcAft>
                <a:spcPts val="0"/>
              </a:spcAft>
              <a:buClr>
                <a:schemeClr val="lt1"/>
              </a:buClr>
              <a:buSzPct val="100000"/>
              <a:buChar char="➢"/>
            </a:pPr>
            <a:r>
              <a:rPr lang="fr" sz="2400">
                <a:solidFill>
                  <a:schemeClr val="lt1"/>
                </a:solidFill>
              </a:rPr>
              <a:t>Calculer un itinéraire entre deux points d'un réseau - par exemple, trouver l'itinéraire le plus efficace dans les transports en commun</a:t>
            </a:r>
            <a:endParaRPr sz="2400">
              <a:solidFill>
                <a:schemeClr val="lt1"/>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endParaRPr sz="2400">
              <a:solidFill>
                <a:schemeClr val="lt1"/>
              </a:solidFill>
            </a:endParaRPr>
          </a:p>
        </p:txBody>
      </p:sp>
      <p:sp>
        <p:nvSpPr>
          <p:cNvPr id="270" name="Google Shape;270;p40" title="Science des Données par Graphes"/>
          <p:cNvSpPr txBox="1"/>
          <p:nvPr/>
        </p:nvSpPr>
        <p:spPr>
          <a:xfrm>
            <a:off x="2741125" y="250150"/>
            <a:ext cx="5424900" cy="571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SzPts val="1100"/>
              <a:buNone/>
            </a:pPr>
            <a:r>
              <a:rPr lang="fr" sz="2400" b="1">
                <a:solidFill>
                  <a:schemeClr val="lt1"/>
                </a:solidFill>
              </a:rPr>
              <a:t>Avantages des bases Graph</a:t>
            </a:r>
            <a:endParaRPr sz="2400" b="1">
              <a:solidFill>
                <a:schemeClr val="lt1"/>
              </a:solidFill>
            </a:endParaRPr>
          </a:p>
        </p:txBody>
      </p:sp>
      <p:pic>
        <p:nvPicPr>
          <p:cNvPr id="271" name="Google Shape;271;p40"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41" title="Science des Données par Graphes"/>
          <p:cNvSpPr txBox="1"/>
          <p:nvPr/>
        </p:nvSpPr>
        <p:spPr>
          <a:xfrm>
            <a:off x="2537875" y="140725"/>
            <a:ext cx="5268600" cy="571500"/>
          </a:xfrm>
          <a:prstGeom prst="rect">
            <a:avLst/>
          </a:prstGeom>
          <a:noFill/>
          <a:ln>
            <a:noFill/>
          </a:ln>
        </p:spPr>
        <p:txBody>
          <a:bodyPr spcFirstLastPara="1" wrap="square" lIns="91425" tIns="91425" rIns="91425" bIns="91425" anchor="t" anchorCtr="0">
            <a:normAutofit fontScale="85000" lnSpcReduction="20000"/>
          </a:bodyPr>
          <a:lstStyle/>
          <a:p>
            <a:pPr marL="0" lvl="0" indent="0" algn="ctr" rtl="0">
              <a:spcBef>
                <a:spcPts val="0"/>
              </a:spcBef>
              <a:spcAft>
                <a:spcPts val="0"/>
              </a:spcAft>
              <a:buSzPct val="30555"/>
              <a:buNone/>
            </a:pPr>
            <a:r>
              <a:rPr lang="fr" sz="3600" b="1">
                <a:solidFill>
                  <a:schemeClr val="lt1"/>
                </a:solidFill>
              </a:rPr>
              <a:t>Contrôle de connaissances</a:t>
            </a:r>
            <a:endParaRPr sz="1900" b="1">
              <a:solidFill>
                <a:schemeClr val="lt1"/>
              </a:solidFill>
            </a:endParaRPr>
          </a:p>
        </p:txBody>
      </p:sp>
      <p:sp>
        <p:nvSpPr>
          <p:cNvPr id="277" name="Google Shape;277;p41"/>
          <p:cNvSpPr txBox="1"/>
          <p:nvPr/>
        </p:nvSpPr>
        <p:spPr>
          <a:xfrm>
            <a:off x="2584775" y="1252425"/>
            <a:ext cx="6066000" cy="571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Réponses :</a:t>
            </a:r>
            <a:endParaRPr sz="2400">
              <a:solidFill>
                <a:schemeClr val="lt1"/>
              </a:solidFill>
            </a:endParaRPr>
          </a:p>
        </p:txBody>
      </p:sp>
      <p:pic>
        <p:nvPicPr>
          <p:cNvPr id="278" name="Google Shape;278;p41"/>
          <p:cNvPicPr preferRelativeResize="0"/>
          <p:nvPr/>
        </p:nvPicPr>
        <p:blipFill>
          <a:blip r:embed="rId3">
            <a:alphaModFix/>
          </a:blip>
          <a:stretch>
            <a:fillRect/>
          </a:stretch>
        </p:blipFill>
        <p:spPr>
          <a:xfrm>
            <a:off x="168834" y="1895125"/>
            <a:ext cx="4193356" cy="3014775"/>
          </a:xfrm>
          <a:prstGeom prst="rect">
            <a:avLst/>
          </a:prstGeom>
          <a:noFill/>
          <a:ln>
            <a:noFill/>
          </a:ln>
        </p:spPr>
      </p:pic>
      <p:pic>
        <p:nvPicPr>
          <p:cNvPr id="279" name="Google Shape;279;p41" descr="Logo de Sorbonne Data Analytics"/>
          <p:cNvPicPr preferRelativeResize="0"/>
          <p:nvPr/>
        </p:nvPicPr>
        <p:blipFill rotWithShape="1">
          <a:blip r:embed="rId4">
            <a:alphaModFix/>
          </a:blip>
          <a:srcRect/>
          <a:stretch/>
        </p:blipFill>
        <p:spPr>
          <a:xfrm>
            <a:off x="7962775" y="0"/>
            <a:ext cx="1181225" cy="11812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2"/>
          <p:cNvSpPr txBox="1"/>
          <p:nvPr/>
        </p:nvSpPr>
        <p:spPr>
          <a:xfrm>
            <a:off x="2381550" y="1252350"/>
            <a:ext cx="6659700" cy="571500"/>
          </a:xfrm>
          <a:prstGeom prst="rect">
            <a:avLst/>
          </a:prstGeom>
          <a:noFill/>
          <a:ln>
            <a:noFill/>
          </a:ln>
        </p:spPr>
        <p:txBody>
          <a:bodyPr spcFirstLastPara="1" wrap="square" lIns="91425" tIns="91425" rIns="91425" bIns="91425" anchor="t" anchorCtr="0">
            <a:normAutofit fontScale="70000"/>
          </a:bodyPr>
          <a:lstStyle/>
          <a:p>
            <a:pPr marL="0" lvl="0" indent="0" algn="l" rtl="0">
              <a:spcBef>
                <a:spcPts val="0"/>
              </a:spcBef>
              <a:spcAft>
                <a:spcPts val="0"/>
              </a:spcAft>
              <a:buNone/>
            </a:pPr>
            <a:r>
              <a:rPr lang="fr" sz="2400">
                <a:solidFill>
                  <a:schemeClr val="lt1"/>
                </a:solidFill>
              </a:rPr>
              <a:t>Les bases de données Graph sont issus de la théorie des graphes.</a:t>
            </a:r>
            <a:endParaRPr sz="2400">
              <a:solidFill>
                <a:schemeClr val="lt1"/>
              </a:solidFill>
            </a:endParaRPr>
          </a:p>
        </p:txBody>
      </p:sp>
      <p:sp>
        <p:nvSpPr>
          <p:cNvPr id="285" name="Google Shape;285;p42"/>
          <p:cNvSpPr txBox="1"/>
          <p:nvPr/>
        </p:nvSpPr>
        <p:spPr>
          <a:xfrm>
            <a:off x="63825" y="2058450"/>
            <a:ext cx="5053500" cy="30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fr" sz="1200" b="1">
                <a:solidFill>
                  <a:schemeClr val="lt1"/>
                </a:solidFill>
              </a:rPr>
              <a:t>Client </a:t>
            </a:r>
            <a:r>
              <a:rPr lang="fr" sz="1200">
                <a:solidFill>
                  <a:schemeClr val="lt1"/>
                </a:solidFill>
              </a:rPr>
              <a:t>: Utilisation des données clients pour les recommandations, la prévention du désabonnement, les offres personnalisées et les publicités ciblées, améliorant ainsi la fidélisation client et la croissance du chiffre d'affaires.</a:t>
            </a:r>
            <a:endParaRPr sz="1200">
              <a:solidFill>
                <a:schemeClr val="lt1"/>
              </a:solidFill>
            </a:endParaRPr>
          </a:p>
          <a:p>
            <a:pPr marL="0" lvl="0" indent="0" algn="l" rtl="0">
              <a:spcBef>
                <a:spcPts val="0"/>
              </a:spcBef>
              <a:spcAft>
                <a:spcPts val="0"/>
              </a:spcAft>
              <a:buNone/>
            </a:pPr>
            <a:r>
              <a:rPr lang="fr" sz="1200">
                <a:solidFill>
                  <a:schemeClr val="lt1"/>
                </a:solidFill>
              </a:rPr>
              <a:t>Réseau et sécurité : Analyse des données des actifs informatiques pour une surveillance complète de la sécurité et une réponse proactive aux menaces.</a:t>
            </a:r>
            <a:endParaRPr sz="1200">
              <a:solidFill>
                <a:schemeClr val="lt1"/>
              </a:solidFill>
            </a:endParaRPr>
          </a:p>
          <a:p>
            <a:pPr marL="0" lvl="0" indent="0" algn="l" rtl="0">
              <a:spcBef>
                <a:spcPts val="0"/>
              </a:spcBef>
              <a:spcAft>
                <a:spcPts val="0"/>
              </a:spcAft>
              <a:buNone/>
            </a:pPr>
            <a:r>
              <a:rPr lang="fr" sz="1200" b="1">
                <a:solidFill>
                  <a:schemeClr val="lt1"/>
                </a:solidFill>
              </a:rPr>
              <a:t>Employé </a:t>
            </a:r>
            <a:r>
              <a:rPr lang="fr" sz="1200">
                <a:solidFill>
                  <a:schemeClr val="lt1"/>
                </a:solidFill>
              </a:rPr>
              <a:t>: Stockage des données des employés pour soutenir le développement des talents, la gestion des carrières et l'allocation des ressources, contribuant ainsi à l'adéquation des compétences des collaborateurs aux besoins de l'entreprise.</a:t>
            </a:r>
            <a:endParaRPr sz="1200">
              <a:solidFill>
                <a:schemeClr val="lt1"/>
              </a:solidFill>
            </a:endParaRPr>
          </a:p>
          <a:p>
            <a:pPr marL="0" lvl="0" indent="0" algn="l" rtl="0">
              <a:spcBef>
                <a:spcPts val="0"/>
              </a:spcBef>
              <a:spcAft>
                <a:spcPts val="0"/>
              </a:spcAft>
              <a:buClr>
                <a:schemeClr val="dk1"/>
              </a:buClr>
              <a:buSzPts val="1100"/>
              <a:buFont typeface="Arial"/>
              <a:buNone/>
            </a:pPr>
            <a:r>
              <a:rPr lang="fr" sz="1200" b="1">
                <a:solidFill>
                  <a:schemeClr val="lt1"/>
                </a:solidFill>
              </a:rPr>
              <a:t>Transactions </a:t>
            </a:r>
            <a:r>
              <a:rPr lang="fr" sz="1200">
                <a:solidFill>
                  <a:schemeClr val="lt1"/>
                </a:solidFill>
              </a:rPr>
              <a:t>: Capture des données transactionnelles pour détecter les activités illégales, soutenir la lutte contre le blanchiment d'argent, la détection des fraudes, l'évaluation du risque de crédit et la détection des fraudes au crédit en révélant des schémas cachés, des anomalies et des connexions.</a:t>
            </a:r>
            <a:endParaRPr sz="1200">
              <a:solidFill>
                <a:schemeClr val="lt1"/>
              </a:solidFill>
            </a:endParaRPr>
          </a:p>
          <a:p>
            <a:pPr marL="0" lvl="0" indent="0" algn="l" rtl="0">
              <a:spcBef>
                <a:spcPts val="0"/>
              </a:spcBef>
              <a:spcAft>
                <a:spcPts val="0"/>
              </a:spcAft>
              <a:buClr>
                <a:schemeClr val="dk1"/>
              </a:buClr>
              <a:buSzPts val="1100"/>
              <a:buFont typeface="Arial"/>
              <a:buNone/>
            </a:pPr>
            <a:endParaRPr sz="1000">
              <a:solidFill>
                <a:schemeClr val="lt1"/>
              </a:solidFill>
            </a:endParaRPr>
          </a:p>
          <a:p>
            <a:pPr marL="0" lvl="0" indent="0" algn="l" rtl="0">
              <a:spcBef>
                <a:spcPts val="0"/>
              </a:spcBef>
              <a:spcAft>
                <a:spcPts val="0"/>
              </a:spcAft>
              <a:buNone/>
            </a:pPr>
            <a:endParaRPr sz="1000">
              <a:solidFill>
                <a:schemeClr val="lt1"/>
              </a:solidFill>
            </a:endParaRPr>
          </a:p>
          <a:p>
            <a:pPr marL="0" lvl="0" indent="0" algn="l" rtl="0">
              <a:spcBef>
                <a:spcPts val="0"/>
              </a:spcBef>
              <a:spcAft>
                <a:spcPts val="0"/>
              </a:spcAft>
              <a:buNone/>
            </a:pPr>
            <a:endParaRPr sz="1000">
              <a:solidFill>
                <a:schemeClr val="lt1"/>
              </a:solidFill>
            </a:endParaRPr>
          </a:p>
        </p:txBody>
      </p:sp>
      <p:sp>
        <p:nvSpPr>
          <p:cNvPr id="286" name="Google Shape;286;p42" title="Science des Données par Graphes"/>
          <p:cNvSpPr txBox="1"/>
          <p:nvPr/>
        </p:nvSpPr>
        <p:spPr>
          <a:xfrm>
            <a:off x="2741125" y="250150"/>
            <a:ext cx="5424900" cy="571500"/>
          </a:xfrm>
          <a:prstGeom prst="rect">
            <a:avLst/>
          </a:prstGeom>
          <a:noFill/>
          <a:ln>
            <a:noFill/>
          </a:ln>
        </p:spPr>
        <p:txBody>
          <a:bodyPr spcFirstLastPara="1" wrap="square" lIns="91425" tIns="91425" rIns="91425" bIns="91425" anchor="t" anchorCtr="0">
            <a:normAutofit fontScale="85000" lnSpcReduction="20000"/>
          </a:bodyPr>
          <a:lstStyle/>
          <a:p>
            <a:pPr marL="0" lvl="0" indent="0" algn="l" rtl="0">
              <a:spcBef>
                <a:spcPts val="0"/>
              </a:spcBef>
              <a:spcAft>
                <a:spcPts val="0"/>
              </a:spcAft>
              <a:buSzPct val="30555"/>
              <a:buNone/>
            </a:pPr>
            <a:r>
              <a:rPr lang="fr" sz="3600" b="1">
                <a:solidFill>
                  <a:schemeClr val="lt1"/>
                </a:solidFill>
              </a:rPr>
              <a:t>Les graphs sont partout</a:t>
            </a:r>
            <a:endParaRPr sz="1900" b="1">
              <a:solidFill>
                <a:schemeClr val="lt1"/>
              </a:solidFill>
            </a:endParaRPr>
          </a:p>
        </p:txBody>
      </p:sp>
      <p:pic>
        <p:nvPicPr>
          <p:cNvPr id="287" name="Google Shape;287;p42"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3"/>
          <p:cNvSpPr txBox="1"/>
          <p:nvPr/>
        </p:nvSpPr>
        <p:spPr>
          <a:xfrm>
            <a:off x="2584775" y="1181225"/>
            <a:ext cx="6456600" cy="642600"/>
          </a:xfrm>
          <a:prstGeom prst="rect">
            <a:avLst/>
          </a:prstGeom>
          <a:noFill/>
          <a:ln>
            <a:noFill/>
          </a:ln>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fr" sz="2400">
                <a:solidFill>
                  <a:schemeClr val="lt1"/>
                </a:solidFill>
              </a:rPr>
              <a:t>Les bases de données Graph sont issus de la théorie des graphes.</a:t>
            </a:r>
            <a:endParaRPr sz="2400">
              <a:solidFill>
                <a:schemeClr val="lt1"/>
              </a:solidFill>
            </a:endParaRPr>
          </a:p>
        </p:txBody>
      </p:sp>
      <p:sp>
        <p:nvSpPr>
          <p:cNvPr id="293" name="Google Shape;293;p43"/>
          <p:cNvSpPr txBox="1"/>
          <p:nvPr/>
        </p:nvSpPr>
        <p:spPr>
          <a:xfrm>
            <a:off x="63825" y="2058450"/>
            <a:ext cx="5053500" cy="30174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r>
              <a:rPr lang="fr" sz="4800" b="1">
                <a:solidFill>
                  <a:schemeClr val="lt1"/>
                </a:solidFill>
              </a:rPr>
              <a:t>Produit </a:t>
            </a:r>
            <a:r>
              <a:rPr lang="fr" sz="4800">
                <a:solidFill>
                  <a:schemeClr val="lt1"/>
                </a:solidFill>
              </a:rPr>
              <a:t>: centralisation des données produits pour soutenir les recommandations personnalisées, optimiser les lancements de nouveaux produits, améliorer la personnalisation, gérer les stocks et affiner les stratégies de prix.</a:t>
            </a:r>
            <a:endParaRPr sz="4800">
              <a:solidFill>
                <a:schemeClr val="lt1"/>
              </a:solidFill>
            </a:endParaRPr>
          </a:p>
          <a:p>
            <a:pPr marL="0" lvl="0" indent="0" algn="l" rtl="0">
              <a:spcBef>
                <a:spcPts val="0"/>
              </a:spcBef>
              <a:spcAft>
                <a:spcPts val="0"/>
              </a:spcAft>
              <a:buNone/>
            </a:pPr>
            <a:endParaRPr sz="4800">
              <a:solidFill>
                <a:schemeClr val="lt1"/>
              </a:solidFill>
            </a:endParaRPr>
          </a:p>
          <a:p>
            <a:pPr marL="0" lvl="0" indent="0" algn="l" rtl="0">
              <a:spcBef>
                <a:spcPts val="0"/>
              </a:spcBef>
              <a:spcAft>
                <a:spcPts val="0"/>
              </a:spcAft>
              <a:buNone/>
            </a:pPr>
            <a:r>
              <a:rPr lang="fr" sz="4800" b="1">
                <a:solidFill>
                  <a:schemeClr val="lt1"/>
                </a:solidFill>
              </a:rPr>
              <a:t>Fournisseurs </a:t>
            </a:r>
            <a:r>
              <a:rPr lang="fr" sz="4800">
                <a:solidFill>
                  <a:schemeClr val="lt1"/>
                </a:solidFill>
              </a:rPr>
              <a:t>: stockage des données sur les performances des fournisseurs, les stocks, les coûts, la logistique et la conformité afin d'optimiser la gestion de la chaîne d'approvisionnement, en soutenant des programmes tels que la planification des itinéraires, la visibilité en temps réel, la planification des stocks et l'analyse des risques.</a:t>
            </a:r>
            <a:endParaRPr sz="4800">
              <a:solidFill>
                <a:schemeClr val="lt1"/>
              </a:solidFill>
            </a:endParaRPr>
          </a:p>
          <a:p>
            <a:pPr marL="0" lvl="0" indent="0" algn="l" rtl="0">
              <a:spcBef>
                <a:spcPts val="0"/>
              </a:spcBef>
              <a:spcAft>
                <a:spcPts val="0"/>
              </a:spcAft>
              <a:buNone/>
            </a:pPr>
            <a:endParaRPr sz="4800">
              <a:solidFill>
                <a:schemeClr val="lt1"/>
              </a:solidFill>
            </a:endParaRPr>
          </a:p>
          <a:p>
            <a:pPr marL="0" marR="0" lvl="0" indent="0" algn="l" rtl="0">
              <a:lnSpc>
                <a:spcPct val="100000"/>
              </a:lnSpc>
              <a:spcBef>
                <a:spcPts val="0"/>
              </a:spcBef>
              <a:spcAft>
                <a:spcPts val="0"/>
              </a:spcAft>
              <a:buNone/>
            </a:pPr>
            <a:r>
              <a:rPr lang="fr" sz="4800" b="1">
                <a:solidFill>
                  <a:schemeClr val="lt1"/>
                </a:solidFill>
              </a:rPr>
              <a:t>Processus </a:t>
            </a:r>
            <a:r>
              <a:rPr lang="fr" sz="4800">
                <a:solidFill>
                  <a:schemeClr val="lt1"/>
                </a:solidFill>
              </a:rPr>
              <a:t>: la création d'un graphique des données relatives aux processus permet d'identifier les goulots d'étranglement, d'améliorer l'efficacité, d'automatiser les tâches et de surveiller les performances en analysant les données opérationnelles, de ressources, de qualité et de coûts.</a:t>
            </a:r>
            <a:endParaRPr sz="4800" b="1">
              <a:solidFill>
                <a:schemeClr val="lt1"/>
              </a:solidFill>
            </a:endParaRPr>
          </a:p>
          <a:p>
            <a:pPr marL="0" lvl="0" indent="0" algn="l" rtl="0">
              <a:spcBef>
                <a:spcPts val="0"/>
              </a:spcBef>
              <a:spcAft>
                <a:spcPts val="0"/>
              </a:spcAft>
              <a:buNone/>
            </a:pPr>
            <a:endParaRPr sz="4800">
              <a:solidFill>
                <a:schemeClr val="lt1"/>
              </a:solidFill>
            </a:endParaRPr>
          </a:p>
          <a:p>
            <a:pPr marL="0" lvl="0" indent="0" algn="l" rtl="0">
              <a:spcBef>
                <a:spcPts val="0"/>
              </a:spcBef>
              <a:spcAft>
                <a:spcPts val="0"/>
              </a:spcAft>
              <a:buNone/>
            </a:pPr>
            <a:endParaRPr sz="2710">
              <a:solidFill>
                <a:schemeClr val="lt1"/>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endParaRPr sz="2400">
              <a:solidFill>
                <a:schemeClr val="lt1"/>
              </a:solidFill>
            </a:endParaRPr>
          </a:p>
        </p:txBody>
      </p:sp>
      <p:sp>
        <p:nvSpPr>
          <p:cNvPr id="294" name="Google Shape;294;p43" title="Science des Données par Graphes"/>
          <p:cNvSpPr txBox="1"/>
          <p:nvPr/>
        </p:nvSpPr>
        <p:spPr>
          <a:xfrm>
            <a:off x="2741125" y="250150"/>
            <a:ext cx="5424900" cy="571500"/>
          </a:xfrm>
          <a:prstGeom prst="rect">
            <a:avLst/>
          </a:prstGeom>
          <a:noFill/>
          <a:ln>
            <a:noFill/>
          </a:ln>
        </p:spPr>
        <p:txBody>
          <a:bodyPr spcFirstLastPara="1" wrap="square" lIns="91425" tIns="91425" rIns="91425" bIns="91425" anchor="t" anchorCtr="0">
            <a:normAutofit fontScale="85000" lnSpcReduction="20000"/>
          </a:bodyPr>
          <a:lstStyle/>
          <a:p>
            <a:pPr marL="0" lvl="0" indent="0" algn="l" rtl="0">
              <a:spcBef>
                <a:spcPts val="0"/>
              </a:spcBef>
              <a:spcAft>
                <a:spcPts val="0"/>
              </a:spcAft>
              <a:buSzPct val="30555"/>
              <a:buNone/>
            </a:pPr>
            <a:r>
              <a:rPr lang="fr" sz="3600" b="1">
                <a:solidFill>
                  <a:schemeClr val="lt1"/>
                </a:solidFill>
              </a:rPr>
              <a:t>Les graphs sont partout</a:t>
            </a:r>
            <a:endParaRPr sz="1900" b="1">
              <a:solidFill>
                <a:schemeClr val="lt1"/>
              </a:solidFill>
            </a:endParaRPr>
          </a:p>
        </p:txBody>
      </p:sp>
      <p:pic>
        <p:nvPicPr>
          <p:cNvPr id="295" name="Google Shape;295;p43"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4"/>
          <p:cNvSpPr txBox="1"/>
          <p:nvPr/>
        </p:nvSpPr>
        <p:spPr>
          <a:xfrm>
            <a:off x="2584775" y="1181225"/>
            <a:ext cx="6456600" cy="642600"/>
          </a:xfrm>
          <a:prstGeom prst="rect">
            <a:avLst/>
          </a:prstGeom>
          <a:noFill/>
          <a:ln>
            <a:noFill/>
          </a:ln>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fr" sz="2400">
                <a:solidFill>
                  <a:schemeClr val="lt1"/>
                </a:solidFill>
              </a:rPr>
              <a:t>Les bases de données Graph ont leur propre langage de requêtage GQL.</a:t>
            </a:r>
            <a:endParaRPr sz="2400">
              <a:solidFill>
                <a:schemeClr val="lt1"/>
              </a:solidFill>
            </a:endParaRPr>
          </a:p>
        </p:txBody>
      </p:sp>
      <p:sp>
        <p:nvSpPr>
          <p:cNvPr id="301" name="Google Shape;301;p44"/>
          <p:cNvSpPr txBox="1"/>
          <p:nvPr/>
        </p:nvSpPr>
        <p:spPr>
          <a:xfrm>
            <a:off x="63825" y="2058450"/>
            <a:ext cx="5053500" cy="3017400"/>
          </a:xfrm>
          <a:prstGeom prst="rect">
            <a:avLst/>
          </a:prstGeom>
          <a:noFill/>
          <a:ln>
            <a:noFill/>
          </a:ln>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fr" sz="1800" b="1">
                <a:solidFill>
                  <a:schemeClr val="lt1"/>
                </a:solidFill>
              </a:rPr>
              <a:t>GQL : Graph Query Language est </a:t>
            </a:r>
            <a:r>
              <a:rPr lang="fr" sz="1800">
                <a:solidFill>
                  <a:schemeClr val="lt1"/>
                </a:solidFill>
              </a:rPr>
              <a:t>un standard  ISO pour les bases Graph.</a:t>
            </a:r>
            <a:endParaRPr sz="1800">
              <a:solidFill>
                <a:schemeClr val="lt1"/>
              </a:solidFill>
            </a:endParaRPr>
          </a:p>
          <a:p>
            <a:pPr marL="0" lvl="0" indent="0" algn="l" rtl="0">
              <a:spcBef>
                <a:spcPts val="0"/>
              </a:spcBef>
              <a:spcAft>
                <a:spcPts val="0"/>
              </a:spcAft>
              <a:buNone/>
            </a:pPr>
            <a:endParaRPr sz="1800">
              <a:solidFill>
                <a:schemeClr val="lt1"/>
              </a:solidFill>
            </a:endParaRPr>
          </a:p>
          <a:p>
            <a:pPr marL="0" lvl="0" indent="0" algn="l" rtl="0">
              <a:spcBef>
                <a:spcPts val="0"/>
              </a:spcBef>
              <a:spcAft>
                <a:spcPts val="0"/>
              </a:spcAft>
              <a:buNone/>
            </a:pPr>
            <a:r>
              <a:rPr lang="fr" sz="1800" b="1">
                <a:solidFill>
                  <a:schemeClr val="lt1"/>
                </a:solidFill>
              </a:rPr>
              <a:t>Cypher </a:t>
            </a:r>
            <a:r>
              <a:rPr lang="fr" sz="1800">
                <a:solidFill>
                  <a:schemeClr val="lt1"/>
                </a:solidFill>
              </a:rPr>
              <a:t>est une implémentation Neo4j de GQL.</a:t>
            </a:r>
            <a:endParaRPr sz="1800">
              <a:solidFill>
                <a:schemeClr val="lt1"/>
              </a:solidFill>
            </a:endParaRPr>
          </a:p>
          <a:p>
            <a:pPr marL="0" lvl="0" indent="0" algn="l" rtl="0">
              <a:spcBef>
                <a:spcPts val="0"/>
              </a:spcBef>
              <a:spcAft>
                <a:spcPts val="0"/>
              </a:spcAft>
              <a:buNone/>
            </a:pPr>
            <a:endParaRPr sz="1800">
              <a:solidFill>
                <a:schemeClr val="lt1"/>
              </a:solidFill>
            </a:endParaRPr>
          </a:p>
          <a:p>
            <a:pPr marL="0" lvl="0" indent="0" algn="l" rtl="0">
              <a:spcBef>
                <a:spcPts val="0"/>
              </a:spcBef>
              <a:spcAft>
                <a:spcPts val="0"/>
              </a:spcAft>
              <a:buNone/>
            </a:pPr>
            <a:r>
              <a:rPr lang="fr" sz="1800" b="1">
                <a:solidFill>
                  <a:schemeClr val="lt1"/>
                </a:solidFill>
              </a:rPr>
              <a:t>Cypher </a:t>
            </a:r>
            <a:r>
              <a:rPr lang="fr" sz="1800">
                <a:solidFill>
                  <a:schemeClr val="lt1"/>
                </a:solidFill>
              </a:rPr>
              <a:t>est un langage déclaratif ce qui signifie que la base est responsable de trouver la manière la plus optimisée d'exécuter les requêtes.</a:t>
            </a:r>
            <a:endParaRPr sz="1800">
              <a:solidFill>
                <a:schemeClr val="lt1"/>
              </a:solidFill>
            </a:endParaRPr>
          </a:p>
          <a:p>
            <a:pPr marL="0" lvl="0" indent="0" algn="l" rtl="0">
              <a:spcBef>
                <a:spcPts val="0"/>
              </a:spcBef>
              <a:spcAft>
                <a:spcPts val="0"/>
              </a:spcAft>
              <a:buNone/>
            </a:pPr>
            <a:endParaRPr sz="2710">
              <a:solidFill>
                <a:schemeClr val="lt1"/>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endParaRPr sz="2400">
              <a:solidFill>
                <a:schemeClr val="lt1"/>
              </a:solidFill>
            </a:endParaRPr>
          </a:p>
        </p:txBody>
      </p:sp>
      <p:sp>
        <p:nvSpPr>
          <p:cNvPr id="302" name="Google Shape;302;p44" title="Science des Données par Graphes"/>
          <p:cNvSpPr txBox="1"/>
          <p:nvPr/>
        </p:nvSpPr>
        <p:spPr>
          <a:xfrm>
            <a:off x="2741125" y="250150"/>
            <a:ext cx="6128400" cy="571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SzPts val="1100"/>
              <a:buNone/>
            </a:pPr>
            <a:r>
              <a:rPr lang="fr" sz="2400" b="1">
                <a:solidFill>
                  <a:schemeClr val="lt1"/>
                </a:solidFill>
              </a:rPr>
              <a:t>Cypher: Langage de requêtage</a:t>
            </a:r>
            <a:endParaRPr sz="2400" b="1">
              <a:solidFill>
                <a:schemeClr val="lt1"/>
              </a:solidFill>
            </a:endParaRPr>
          </a:p>
        </p:txBody>
      </p:sp>
      <p:pic>
        <p:nvPicPr>
          <p:cNvPr id="303" name="Google Shape;303;p44"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5"/>
          <p:cNvSpPr txBox="1"/>
          <p:nvPr/>
        </p:nvSpPr>
        <p:spPr>
          <a:xfrm>
            <a:off x="2584775" y="948450"/>
            <a:ext cx="6456600" cy="6879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Ce qu’il faut Savoir:</a:t>
            </a:r>
            <a:endParaRPr sz="2400">
              <a:solidFill>
                <a:schemeClr val="lt1"/>
              </a:solidFill>
            </a:endParaRPr>
          </a:p>
        </p:txBody>
      </p:sp>
      <p:sp>
        <p:nvSpPr>
          <p:cNvPr id="309" name="Google Shape;309;p45"/>
          <p:cNvSpPr txBox="1"/>
          <p:nvPr/>
        </p:nvSpPr>
        <p:spPr>
          <a:xfrm>
            <a:off x="63825" y="2058450"/>
            <a:ext cx="5053500" cy="29547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90000"/>
              </a:lnSpc>
              <a:spcBef>
                <a:spcPts val="0"/>
              </a:spcBef>
              <a:spcAft>
                <a:spcPts val="0"/>
              </a:spcAft>
              <a:buNone/>
            </a:pPr>
            <a:r>
              <a:rPr lang="fr" sz="2621">
                <a:solidFill>
                  <a:schemeClr val="lt1"/>
                </a:solidFill>
              </a:rPr>
              <a:t>Fondamentalement, la base de donnée Neo4j se compose de trois entités principales :</a:t>
            </a:r>
            <a:endParaRPr sz="2621">
              <a:solidFill>
                <a:schemeClr val="lt1"/>
              </a:solidFill>
            </a:endParaRPr>
          </a:p>
          <a:p>
            <a:pPr marL="0" lvl="0" indent="0" algn="l" rtl="0">
              <a:lnSpc>
                <a:spcPct val="90000"/>
              </a:lnSpc>
              <a:spcBef>
                <a:spcPts val="0"/>
              </a:spcBef>
              <a:spcAft>
                <a:spcPts val="0"/>
              </a:spcAft>
              <a:buNone/>
            </a:pPr>
            <a:endParaRPr sz="2621">
              <a:solidFill>
                <a:schemeClr val="lt1"/>
              </a:solidFill>
            </a:endParaRPr>
          </a:p>
          <a:p>
            <a:pPr marL="0" lvl="0" indent="0" algn="l" rtl="0">
              <a:lnSpc>
                <a:spcPct val="90000"/>
              </a:lnSpc>
              <a:spcBef>
                <a:spcPts val="0"/>
              </a:spcBef>
              <a:spcAft>
                <a:spcPts val="0"/>
              </a:spcAft>
              <a:buNone/>
            </a:pPr>
            <a:r>
              <a:rPr lang="fr" sz="2621">
                <a:solidFill>
                  <a:schemeClr val="lt1"/>
                </a:solidFill>
              </a:rPr>
              <a:t>Les nœuds(Nodes), les relations(Relationships) et les Paths.</a:t>
            </a:r>
            <a:endParaRPr sz="2621">
              <a:solidFill>
                <a:schemeClr val="lt1"/>
              </a:solidFill>
            </a:endParaRPr>
          </a:p>
          <a:p>
            <a:pPr marL="0" lvl="0" indent="0" algn="l" rtl="0">
              <a:lnSpc>
                <a:spcPct val="90000"/>
              </a:lnSpc>
              <a:spcBef>
                <a:spcPts val="0"/>
              </a:spcBef>
              <a:spcAft>
                <a:spcPts val="0"/>
              </a:spcAft>
              <a:buNone/>
            </a:pPr>
            <a:endParaRPr sz="2621">
              <a:solidFill>
                <a:schemeClr val="lt1"/>
              </a:solidFill>
            </a:endParaRPr>
          </a:p>
          <a:p>
            <a:pPr marL="0" lvl="0" indent="0" algn="l" rtl="0">
              <a:lnSpc>
                <a:spcPct val="90000"/>
              </a:lnSpc>
              <a:spcBef>
                <a:spcPts val="0"/>
              </a:spcBef>
              <a:spcAft>
                <a:spcPts val="0"/>
              </a:spcAft>
              <a:buNone/>
            </a:pPr>
            <a:r>
              <a:rPr lang="fr" sz="2621">
                <a:solidFill>
                  <a:schemeClr val="lt1"/>
                </a:solidFill>
              </a:rPr>
              <a:t>Les requêtes CYPHER  sont construites pour faire correspondre ou créer ces entités dans un Graph. </a:t>
            </a:r>
            <a:endParaRPr sz="2621">
              <a:solidFill>
                <a:schemeClr val="lt1"/>
              </a:solidFill>
            </a:endParaRPr>
          </a:p>
          <a:p>
            <a:pPr marL="0" lvl="0" indent="0" algn="l" rtl="0">
              <a:lnSpc>
                <a:spcPct val="90000"/>
              </a:lnSpc>
              <a:spcBef>
                <a:spcPts val="0"/>
              </a:spcBef>
              <a:spcAft>
                <a:spcPts val="0"/>
              </a:spcAft>
              <a:buNone/>
            </a:pPr>
            <a:endParaRPr sz="2621">
              <a:solidFill>
                <a:schemeClr val="lt1"/>
              </a:solidFill>
            </a:endParaRPr>
          </a:p>
          <a:p>
            <a:pPr marL="0" lvl="0" indent="0" algn="l" rtl="0">
              <a:lnSpc>
                <a:spcPct val="90000"/>
              </a:lnSpc>
              <a:spcBef>
                <a:spcPts val="0"/>
              </a:spcBef>
              <a:spcAft>
                <a:spcPts val="0"/>
              </a:spcAft>
              <a:buNone/>
            </a:pPr>
            <a:r>
              <a:rPr lang="fr" sz="2621">
                <a:solidFill>
                  <a:schemeClr val="lt1"/>
                </a:solidFill>
              </a:rPr>
              <a:t>Avoir une compréhension de base de ces trois entités dans Neo4j  est donc cruciale pour pour construire des requêtes Cypher.</a:t>
            </a:r>
            <a:endParaRPr sz="2621">
              <a:solidFill>
                <a:schemeClr val="lt1"/>
              </a:solidFill>
            </a:endParaRPr>
          </a:p>
          <a:p>
            <a:pPr marL="0" lvl="0" indent="0" algn="l" rtl="0">
              <a:spcBef>
                <a:spcPts val="0"/>
              </a:spcBef>
              <a:spcAft>
                <a:spcPts val="0"/>
              </a:spcAft>
              <a:buNone/>
            </a:pPr>
            <a:endParaRPr sz="2710">
              <a:solidFill>
                <a:schemeClr val="lt1"/>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endParaRPr sz="2400">
              <a:solidFill>
                <a:schemeClr val="lt1"/>
              </a:solidFill>
            </a:endParaRPr>
          </a:p>
        </p:txBody>
      </p:sp>
      <p:sp>
        <p:nvSpPr>
          <p:cNvPr id="310" name="Google Shape;310;p45" title="Science des Données par Graphes"/>
          <p:cNvSpPr txBox="1"/>
          <p:nvPr/>
        </p:nvSpPr>
        <p:spPr>
          <a:xfrm>
            <a:off x="2741125" y="250150"/>
            <a:ext cx="6128400" cy="571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SzPts val="1100"/>
              <a:buNone/>
            </a:pPr>
            <a:r>
              <a:rPr lang="fr" sz="2400" b="1">
                <a:solidFill>
                  <a:schemeClr val="lt1"/>
                </a:solidFill>
              </a:rPr>
              <a:t>Cypher: Langage de requêtage</a:t>
            </a:r>
            <a:endParaRPr sz="2400" b="1">
              <a:solidFill>
                <a:schemeClr val="lt1"/>
              </a:solidFill>
            </a:endParaRPr>
          </a:p>
        </p:txBody>
      </p:sp>
      <p:pic>
        <p:nvPicPr>
          <p:cNvPr id="311" name="Google Shape;311;p45"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46"/>
          <p:cNvSpPr txBox="1"/>
          <p:nvPr/>
        </p:nvSpPr>
        <p:spPr>
          <a:xfrm>
            <a:off x="2584775" y="948450"/>
            <a:ext cx="4924500" cy="7191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Syntaxe:</a:t>
            </a:r>
            <a:endParaRPr sz="2400">
              <a:solidFill>
                <a:schemeClr val="lt1"/>
              </a:solidFill>
            </a:endParaRPr>
          </a:p>
        </p:txBody>
      </p:sp>
      <p:sp>
        <p:nvSpPr>
          <p:cNvPr id="317" name="Google Shape;317;p46"/>
          <p:cNvSpPr txBox="1"/>
          <p:nvPr/>
        </p:nvSpPr>
        <p:spPr>
          <a:xfrm>
            <a:off x="63825" y="2152250"/>
            <a:ext cx="5209800" cy="2876700"/>
          </a:xfrm>
          <a:prstGeom prst="rect">
            <a:avLst/>
          </a:prstGeom>
          <a:noFill/>
          <a:ln>
            <a:noFill/>
          </a:ln>
        </p:spPr>
        <p:txBody>
          <a:bodyPr spcFirstLastPara="1" wrap="square" lIns="91425" tIns="91425" rIns="91425" bIns="91425" anchor="t" anchorCtr="0">
            <a:normAutofit fontScale="92500" lnSpcReduction="20000"/>
          </a:bodyPr>
          <a:lstStyle/>
          <a:p>
            <a:pPr marL="0" lvl="0" indent="0" algn="l" rtl="0">
              <a:lnSpc>
                <a:spcPct val="90000"/>
              </a:lnSpc>
              <a:spcBef>
                <a:spcPts val="0"/>
              </a:spcBef>
              <a:spcAft>
                <a:spcPts val="0"/>
              </a:spcAft>
              <a:buClr>
                <a:schemeClr val="dk1"/>
              </a:buClr>
              <a:buSzPct val="45833"/>
              <a:buFont typeface="Arial"/>
              <a:buNone/>
            </a:pPr>
            <a:r>
              <a:rPr lang="fr" sz="2400">
                <a:solidFill>
                  <a:schemeClr val="lt1"/>
                </a:solidFill>
              </a:rPr>
              <a:t>Il suit la syntaxe ascii-art suivant :</a:t>
            </a:r>
            <a:endParaRPr sz="2400">
              <a:solidFill>
                <a:schemeClr val="dk1"/>
              </a:solidFill>
              <a:latin typeface="Calibri"/>
              <a:ea typeface="Calibri"/>
              <a:cs typeface="Calibri"/>
              <a:sym typeface="Calibri"/>
            </a:endParaRPr>
          </a:p>
          <a:p>
            <a:pPr marL="457200" lvl="0" indent="0" algn="l" rtl="0">
              <a:lnSpc>
                <a:spcPct val="90000"/>
              </a:lnSpc>
              <a:spcBef>
                <a:spcPts val="0"/>
              </a:spcBef>
              <a:spcAft>
                <a:spcPts val="0"/>
              </a:spcAft>
              <a:buClr>
                <a:schemeClr val="dk1"/>
              </a:buClr>
              <a:buSzPct val="45833"/>
              <a:buFont typeface="Arial"/>
              <a:buNone/>
            </a:pPr>
            <a:endParaRPr sz="2400">
              <a:solidFill>
                <a:schemeClr val="dk1"/>
              </a:solidFill>
              <a:latin typeface="Calibri"/>
              <a:ea typeface="Calibri"/>
              <a:cs typeface="Calibri"/>
              <a:sym typeface="Calibri"/>
            </a:endParaRPr>
          </a:p>
          <a:p>
            <a:pPr marL="0" lvl="0" indent="0" algn="l" rtl="0">
              <a:lnSpc>
                <a:spcPct val="90000"/>
              </a:lnSpc>
              <a:spcBef>
                <a:spcPts val="0"/>
              </a:spcBef>
              <a:spcAft>
                <a:spcPts val="0"/>
              </a:spcAft>
              <a:buClr>
                <a:schemeClr val="dk1"/>
              </a:buClr>
              <a:buSzPct val="45833"/>
              <a:buFont typeface="Arial"/>
              <a:buNone/>
            </a:pPr>
            <a:r>
              <a:rPr lang="fr" sz="2400">
                <a:solidFill>
                  <a:schemeClr val="dk1"/>
                </a:solidFill>
                <a:latin typeface="Calibri"/>
                <a:ea typeface="Calibri"/>
                <a:cs typeface="Calibri"/>
                <a:sym typeface="Calibri"/>
              </a:rPr>
              <a:t> </a:t>
            </a:r>
            <a:r>
              <a:rPr lang="fr" sz="2400">
                <a:solidFill>
                  <a:srgbClr val="FF0000"/>
                </a:solidFill>
                <a:latin typeface="Calibri"/>
                <a:ea typeface="Calibri"/>
                <a:cs typeface="Calibri"/>
                <a:sym typeface="Calibri"/>
              </a:rPr>
              <a:t>(nodes)-[:RELATIONSHIPS]→(otherNodes)</a:t>
            </a:r>
            <a:endParaRPr sz="2400">
              <a:solidFill>
                <a:srgbClr val="FF0000"/>
              </a:solidFill>
              <a:latin typeface="Calibri"/>
              <a:ea typeface="Calibri"/>
              <a:cs typeface="Calibri"/>
              <a:sym typeface="Calibri"/>
            </a:endParaRPr>
          </a:p>
          <a:p>
            <a:pPr marL="457200" lvl="0" indent="0" algn="l" rtl="0">
              <a:lnSpc>
                <a:spcPct val="90000"/>
              </a:lnSpc>
              <a:spcBef>
                <a:spcPts val="0"/>
              </a:spcBef>
              <a:spcAft>
                <a:spcPts val="0"/>
              </a:spcAft>
              <a:buClr>
                <a:schemeClr val="dk1"/>
              </a:buClr>
              <a:buSzPct val="45833"/>
              <a:buFont typeface="Arial"/>
              <a:buNone/>
            </a:pPr>
            <a:endParaRPr sz="24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fr" sz="2400">
                <a:solidFill>
                  <a:schemeClr val="lt1"/>
                </a:solidFill>
              </a:rPr>
              <a:t>Les parenthèses</a:t>
            </a:r>
            <a:r>
              <a:rPr lang="fr" sz="2400">
                <a:solidFill>
                  <a:schemeClr val="dk1"/>
                </a:solidFill>
                <a:latin typeface="Calibri"/>
                <a:ea typeface="Calibri"/>
                <a:cs typeface="Calibri"/>
                <a:sym typeface="Calibri"/>
              </a:rPr>
              <a:t> </a:t>
            </a:r>
            <a:r>
              <a:rPr lang="fr" sz="2400">
                <a:solidFill>
                  <a:srgbClr val="FF0000"/>
                </a:solidFill>
                <a:latin typeface="Calibri"/>
                <a:ea typeface="Calibri"/>
                <a:cs typeface="Calibri"/>
                <a:sym typeface="Calibri"/>
              </a:rPr>
              <a:t>(nodes)</a:t>
            </a:r>
            <a:r>
              <a:rPr lang="fr" sz="2400">
                <a:solidFill>
                  <a:schemeClr val="dk1"/>
                </a:solidFill>
                <a:latin typeface="Calibri"/>
                <a:ea typeface="Calibri"/>
                <a:cs typeface="Calibri"/>
                <a:sym typeface="Calibri"/>
              </a:rPr>
              <a:t> </a:t>
            </a:r>
            <a:r>
              <a:rPr lang="fr" sz="2400">
                <a:solidFill>
                  <a:schemeClr val="lt1"/>
                </a:solidFill>
              </a:rPr>
              <a:t>sont utilisés</a:t>
            </a:r>
            <a:r>
              <a:rPr lang="fr" sz="2400">
                <a:solidFill>
                  <a:schemeClr val="dk1"/>
                </a:solidFill>
                <a:latin typeface="Calibri"/>
                <a:ea typeface="Calibri"/>
                <a:cs typeface="Calibri"/>
                <a:sym typeface="Calibri"/>
              </a:rPr>
              <a:t> </a:t>
            </a:r>
            <a:r>
              <a:rPr lang="fr" sz="2400">
                <a:solidFill>
                  <a:schemeClr val="lt1"/>
                </a:solidFill>
              </a:rPr>
              <a:t>pour les noeuds Node</a:t>
            </a:r>
            <a:endParaRPr sz="2400">
              <a:solidFill>
                <a:schemeClr val="lt1"/>
              </a:solidFill>
            </a:endParaRPr>
          </a:p>
          <a:p>
            <a:pPr marL="0" lvl="0" indent="0" algn="l" rtl="0">
              <a:lnSpc>
                <a:spcPct val="90000"/>
              </a:lnSpc>
              <a:spcBef>
                <a:spcPts val="0"/>
              </a:spcBef>
              <a:spcAft>
                <a:spcPts val="0"/>
              </a:spcAft>
              <a:buClr>
                <a:schemeClr val="dk1"/>
              </a:buClr>
              <a:buSzPct val="45833"/>
              <a:buFont typeface="Arial"/>
              <a:buNone/>
            </a:pPr>
            <a:r>
              <a:rPr lang="fr" sz="2400">
                <a:solidFill>
                  <a:schemeClr val="lt1"/>
                </a:solidFill>
              </a:rPr>
              <a:t>Les crochets et flèches</a:t>
            </a:r>
            <a:r>
              <a:rPr lang="fr" sz="2400">
                <a:solidFill>
                  <a:srgbClr val="FF0000"/>
                </a:solidFill>
                <a:latin typeface="Calibri"/>
                <a:ea typeface="Calibri"/>
                <a:cs typeface="Calibri"/>
                <a:sym typeface="Calibri"/>
              </a:rPr>
              <a:t> [:RELATIONSHIPS]→ </a:t>
            </a:r>
            <a:r>
              <a:rPr lang="fr" sz="2400">
                <a:solidFill>
                  <a:schemeClr val="lt1"/>
                </a:solidFill>
              </a:rPr>
              <a:t>pour les relations Relationships</a:t>
            </a:r>
            <a:endParaRPr sz="2400">
              <a:solidFill>
                <a:schemeClr val="lt1"/>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endParaRPr sz="2400">
              <a:solidFill>
                <a:schemeClr val="lt1"/>
              </a:solidFill>
            </a:endParaRPr>
          </a:p>
        </p:txBody>
      </p:sp>
      <p:sp>
        <p:nvSpPr>
          <p:cNvPr id="318" name="Google Shape;318;p46" title="Science des Données par Graphes"/>
          <p:cNvSpPr txBox="1"/>
          <p:nvPr/>
        </p:nvSpPr>
        <p:spPr>
          <a:xfrm>
            <a:off x="2741125" y="250150"/>
            <a:ext cx="6128400" cy="571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SzPts val="1100"/>
              <a:buNone/>
            </a:pPr>
            <a:r>
              <a:rPr lang="fr" sz="2400" b="1">
                <a:solidFill>
                  <a:schemeClr val="lt1"/>
                </a:solidFill>
              </a:rPr>
              <a:t>Cypher: Langage de requêtage</a:t>
            </a:r>
            <a:endParaRPr sz="2400" b="1">
              <a:solidFill>
                <a:schemeClr val="lt1"/>
              </a:solidFill>
            </a:endParaRPr>
          </a:p>
        </p:txBody>
      </p:sp>
      <p:pic>
        <p:nvPicPr>
          <p:cNvPr id="319" name="Google Shape;319;p46"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7"/>
          <p:cNvSpPr txBox="1"/>
          <p:nvPr/>
        </p:nvSpPr>
        <p:spPr>
          <a:xfrm>
            <a:off x="2584775" y="948450"/>
            <a:ext cx="6456600" cy="7191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Les clauses :</a:t>
            </a:r>
            <a:endParaRPr sz="2400">
              <a:solidFill>
                <a:schemeClr val="lt1"/>
              </a:solidFill>
            </a:endParaRPr>
          </a:p>
        </p:txBody>
      </p:sp>
      <p:sp>
        <p:nvSpPr>
          <p:cNvPr id="325" name="Google Shape;325;p47"/>
          <p:cNvSpPr txBox="1"/>
          <p:nvPr/>
        </p:nvSpPr>
        <p:spPr>
          <a:xfrm>
            <a:off x="63825" y="2089700"/>
            <a:ext cx="5053500" cy="2876700"/>
          </a:xfrm>
          <a:prstGeom prst="rect">
            <a:avLst/>
          </a:prstGeom>
          <a:noFill/>
          <a:ln>
            <a:noFill/>
          </a:ln>
        </p:spPr>
        <p:txBody>
          <a:bodyPr spcFirstLastPara="1" wrap="square" lIns="91425" tIns="91425" rIns="91425" bIns="91425" anchor="t" anchorCtr="0">
            <a:normAutofit lnSpcReduction="10000"/>
          </a:bodyPr>
          <a:lstStyle/>
          <a:p>
            <a:pPr marL="0" marR="0" lvl="0" indent="0" algn="l" rtl="0">
              <a:lnSpc>
                <a:spcPct val="100000"/>
              </a:lnSpc>
              <a:spcBef>
                <a:spcPts val="0"/>
              </a:spcBef>
              <a:spcAft>
                <a:spcPts val="0"/>
              </a:spcAft>
              <a:buNone/>
            </a:pPr>
            <a:r>
              <a:rPr lang="fr" sz="1600">
                <a:solidFill>
                  <a:schemeClr val="lt1"/>
                </a:solidFill>
              </a:rPr>
              <a:t>Le langage de requêtage  CYPHER contient plusieurs clauses :</a:t>
            </a:r>
            <a:endParaRPr sz="1600">
              <a:solidFill>
                <a:schemeClr val="lt1"/>
              </a:solidFill>
            </a:endParaRPr>
          </a:p>
          <a:p>
            <a:pPr marL="0" marR="0" lvl="0" indent="0" algn="l" rtl="0">
              <a:lnSpc>
                <a:spcPct val="100000"/>
              </a:lnSpc>
              <a:spcBef>
                <a:spcPts val="0"/>
              </a:spcBef>
              <a:spcAft>
                <a:spcPts val="0"/>
              </a:spcAft>
              <a:buNone/>
            </a:pPr>
            <a:endParaRPr sz="1600">
              <a:solidFill>
                <a:schemeClr val="lt1"/>
              </a:solidFill>
            </a:endParaRPr>
          </a:p>
          <a:p>
            <a:pPr marL="457200" marR="0" lvl="0" indent="-330200" algn="l" rtl="0">
              <a:lnSpc>
                <a:spcPct val="100000"/>
              </a:lnSpc>
              <a:spcBef>
                <a:spcPts val="0"/>
              </a:spcBef>
              <a:spcAft>
                <a:spcPts val="0"/>
              </a:spcAft>
              <a:buClr>
                <a:schemeClr val="lt1"/>
              </a:buClr>
              <a:buSzPts val="1600"/>
              <a:buChar char="❖"/>
            </a:pPr>
            <a:r>
              <a:rPr lang="fr" sz="1600">
                <a:solidFill>
                  <a:schemeClr val="lt1"/>
                </a:solidFill>
              </a:rPr>
              <a:t>Clauses de Lecture</a:t>
            </a:r>
            <a:endParaRPr sz="1600">
              <a:solidFill>
                <a:schemeClr val="lt1"/>
              </a:solidFill>
            </a:endParaRPr>
          </a:p>
          <a:p>
            <a:pPr marL="457200" marR="0" lvl="0" indent="-330200" algn="l" rtl="0">
              <a:lnSpc>
                <a:spcPct val="100000"/>
              </a:lnSpc>
              <a:spcBef>
                <a:spcPts val="0"/>
              </a:spcBef>
              <a:spcAft>
                <a:spcPts val="0"/>
              </a:spcAft>
              <a:buClr>
                <a:schemeClr val="lt1"/>
              </a:buClr>
              <a:buSzPts val="1600"/>
              <a:buChar char="❖"/>
            </a:pPr>
            <a:r>
              <a:rPr lang="fr" sz="1600">
                <a:solidFill>
                  <a:schemeClr val="lt1"/>
                </a:solidFill>
              </a:rPr>
              <a:t>Clause de Projection</a:t>
            </a:r>
            <a:endParaRPr sz="1600">
              <a:solidFill>
                <a:schemeClr val="lt1"/>
              </a:solidFill>
            </a:endParaRPr>
          </a:p>
          <a:p>
            <a:pPr marL="457200" marR="0" lvl="0" indent="-330200" algn="l" rtl="0">
              <a:lnSpc>
                <a:spcPct val="100000"/>
              </a:lnSpc>
              <a:spcBef>
                <a:spcPts val="0"/>
              </a:spcBef>
              <a:spcAft>
                <a:spcPts val="0"/>
              </a:spcAft>
              <a:buClr>
                <a:schemeClr val="lt1"/>
              </a:buClr>
              <a:buSzPts val="1600"/>
              <a:buChar char="❖"/>
            </a:pPr>
            <a:r>
              <a:rPr lang="fr" sz="1600">
                <a:solidFill>
                  <a:schemeClr val="lt1"/>
                </a:solidFill>
              </a:rPr>
              <a:t>Sub-clauses de Lecture</a:t>
            </a:r>
            <a:endParaRPr sz="1600">
              <a:solidFill>
                <a:schemeClr val="lt1"/>
              </a:solidFill>
            </a:endParaRPr>
          </a:p>
          <a:p>
            <a:pPr marL="457200" marR="0" lvl="0" indent="-330200" algn="l" rtl="0">
              <a:lnSpc>
                <a:spcPct val="100000"/>
              </a:lnSpc>
              <a:spcBef>
                <a:spcPts val="0"/>
              </a:spcBef>
              <a:spcAft>
                <a:spcPts val="0"/>
              </a:spcAft>
              <a:buClr>
                <a:schemeClr val="lt1"/>
              </a:buClr>
              <a:buSzPts val="1600"/>
              <a:buChar char="❖"/>
            </a:pPr>
            <a:r>
              <a:rPr lang="fr" sz="1600">
                <a:solidFill>
                  <a:schemeClr val="lt1"/>
                </a:solidFill>
              </a:rPr>
              <a:t>Clauses d’Ecriture</a:t>
            </a:r>
            <a:endParaRPr sz="1600">
              <a:solidFill>
                <a:schemeClr val="lt1"/>
              </a:solidFill>
            </a:endParaRPr>
          </a:p>
          <a:p>
            <a:pPr marL="457200" marR="0" lvl="0" indent="-330200" algn="l" rtl="0">
              <a:lnSpc>
                <a:spcPct val="100000"/>
              </a:lnSpc>
              <a:spcBef>
                <a:spcPts val="0"/>
              </a:spcBef>
              <a:spcAft>
                <a:spcPts val="0"/>
              </a:spcAft>
              <a:buClr>
                <a:schemeClr val="lt1"/>
              </a:buClr>
              <a:buSzPts val="1600"/>
              <a:buChar char="❖"/>
            </a:pPr>
            <a:r>
              <a:rPr lang="fr" sz="1600">
                <a:solidFill>
                  <a:schemeClr val="lt1"/>
                </a:solidFill>
              </a:rPr>
              <a:t>Clauses de Lecture/Ecriture</a:t>
            </a:r>
            <a:endParaRPr sz="1600">
              <a:solidFill>
                <a:schemeClr val="lt1"/>
              </a:solidFill>
            </a:endParaRPr>
          </a:p>
          <a:p>
            <a:pPr marL="457200" marR="0" lvl="0" indent="-330200" algn="l" rtl="0">
              <a:lnSpc>
                <a:spcPct val="100000"/>
              </a:lnSpc>
              <a:spcBef>
                <a:spcPts val="0"/>
              </a:spcBef>
              <a:spcAft>
                <a:spcPts val="0"/>
              </a:spcAft>
              <a:buClr>
                <a:schemeClr val="lt1"/>
              </a:buClr>
              <a:buSzPts val="1600"/>
              <a:buChar char="❖"/>
            </a:pPr>
            <a:r>
              <a:rPr lang="fr" sz="1600">
                <a:solidFill>
                  <a:schemeClr val="lt1"/>
                </a:solidFill>
              </a:rPr>
              <a:t>Clauses de Sous-Requete (Subquery)</a:t>
            </a:r>
            <a:endParaRPr sz="1600">
              <a:solidFill>
                <a:schemeClr val="lt1"/>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endParaRPr sz="2400">
              <a:solidFill>
                <a:schemeClr val="lt1"/>
              </a:solidFill>
            </a:endParaRPr>
          </a:p>
        </p:txBody>
      </p:sp>
      <p:sp>
        <p:nvSpPr>
          <p:cNvPr id="326" name="Google Shape;326;p47" title="Science des Données par Graphes"/>
          <p:cNvSpPr txBox="1"/>
          <p:nvPr/>
        </p:nvSpPr>
        <p:spPr>
          <a:xfrm>
            <a:off x="2741125" y="250150"/>
            <a:ext cx="6128400" cy="571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SzPts val="1100"/>
              <a:buNone/>
            </a:pPr>
            <a:r>
              <a:rPr lang="fr" sz="2400" b="1">
                <a:solidFill>
                  <a:schemeClr val="lt1"/>
                </a:solidFill>
              </a:rPr>
              <a:t>Cypher: Langage de requêtage</a:t>
            </a:r>
            <a:endParaRPr sz="2400" b="1">
              <a:solidFill>
                <a:schemeClr val="lt1"/>
              </a:solidFill>
            </a:endParaRPr>
          </a:p>
        </p:txBody>
      </p:sp>
      <p:pic>
        <p:nvPicPr>
          <p:cNvPr id="327" name="Google Shape;327;p47"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48"/>
          <p:cNvSpPr txBox="1"/>
          <p:nvPr/>
        </p:nvSpPr>
        <p:spPr>
          <a:xfrm>
            <a:off x="2584775" y="948450"/>
            <a:ext cx="6456600" cy="7191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Lecture :  MATCH</a:t>
            </a:r>
            <a:endParaRPr sz="2400">
              <a:solidFill>
                <a:schemeClr val="lt1"/>
              </a:solidFill>
            </a:endParaRPr>
          </a:p>
        </p:txBody>
      </p:sp>
      <p:sp>
        <p:nvSpPr>
          <p:cNvPr id="333" name="Google Shape;333;p48"/>
          <p:cNvSpPr txBox="1"/>
          <p:nvPr/>
        </p:nvSpPr>
        <p:spPr>
          <a:xfrm>
            <a:off x="63825" y="2089700"/>
            <a:ext cx="5053500" cy="2876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MATCH </a:t>
            </a:r>
            <a:endParaRPr sz="1600">
              <a:solidFill>
                <a:schemeClr val="lt1"/>
              </a:solidFill>
            </a:endParaRPr>
          </a:p>
          <a:p>
            <a:pPr marL="457200" marR="0" lvl="0" indent="-330200" algn="l" rtl="0">
              <a:lnSpc>
                <a:spcPct val="100000"/>
              </a:lnSpc>
              <a:spcBef>
                <a:spcPts val="0"/>
              </a:spcBef>
              <a:spcAft>
                <a:spcPts val="0"/>
              </a:spcAft>
              <a:buClr>
                <a:schemeClr val="lt1"/>
              </a:buClr>
              <a:buSzPts val="1600"/>
              <a:buChar char="❖"/>
            </a:pPr>
            <a:r>
              <a:rPr lang="fr" sz="1600">
                <a:solidFill>
                  <a:schemeClr val="lt1"/>
                </a:solidFill>
              </a:rPr>
              <a:t>La clause match spécifie le pattern à chercher </a:t>
            </a:r>
            <a:endParaRPr sz="1600">
              <a:solidFill>
                <a:schemeClr val="lt1"/>
              </a:solidFill>
            </a:endParaRPr>
          </a:p>
          <a:p>
            <a:pPr marL="0" marR="0" lvl="0" indent="0" algn="l" rtl="0">
              <a:lnSpc>
                <a:spcPct val="100000"/>
              </a:lnSpc>
              <a:spcBef>
                <a:spcPts val="0"/>
              </a:spcBef>
              <a:spcAft>
                <a:spcPts val="0"/>
              </a:spcAft>
              <a:buNone/>
            </a:pPr>
            <a:r>
              <a:rPr lang="fr" sz="1600">
                <a:solidFill>
                  <a:schemeClr val="lt1"/>
                </a:solidFill>
              </a:rPr>
              <a:t>Exemple : </a:t>
            </a:r>
            <a:endParaRPr sz="1600">
              <a:solidFill>
                <a:schemeClr val="lt1"/>
              </a:solidFill>
            </a:endParaRPr>
          </a:p>
          <a:p>
            <a:pPr marL="0" marR="0" lvl="0" indent="0" algn="l" rtl="0">
              <a:lnSpc>
                <a:spcPct val="100000"/>
              </a:lnSpc>
              <a:spcBef>
                <a:spcPts val="0"/>
              </a:spcBef>
              <a:spcAft>
                <a:spcPts val="0"/>
              </a:spcAft>
              <a:buNone/>
            </a:pPr>
            <a:endParaRPr sz="1600">
              <a:solidFill>
                <a:schemeClr val="lt1"/>
              </a:solidFill>
            </a:endParaRPr>
          </a:p>
          <a:p>
            <a:pPr marL="0" marR="0" lvl="0" indent="0" algn="l" rtl="0">
              <a:lnSpc>
                <a:spcPct val="100000"/>
              </a:lnSpc>
              <a:spcBef>
                <a:spcPts val="0"/>
              </a:spcBef>
              <a:spcAft>
                <a:spcPts val="0"/>
              </a:spcAft>
              <a:buNone/>
            </a:pPr>
            <a:endParaRPr sz="1600">
              <a:solidFill>
                <a:schemeClr val="lt1"/>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endParaRPr sz="2400">
              <a:solidFill>
                <a:schemeClr val="lt1"/>
              </a:solidFill>
            </a:endParaRPr>
          </a:p>
        </p:txBody>
      </p:sp>
      <p:sp>
        <p:nvSpPr>
          <p:cNvPr id="334" name="Google Shape;334;p48" title="Science des Données par Graphes"/>
          <p:cNvSpPr txBox="1"/>
          <p:nvPr/>
        </p:nvSpPr>
        <p:spPr>
          <a:xfrm>
            <a:off x="2741125" y="250150"/>
            <a:ext cx="6128400" cy="571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SzPts val="1100"/>
              <a:buNone/>
            </a:pPr>
            <a:r>
              <a:rPr lang="fr" sz="2400" b="1">
                <a:solidFill>
                  <a:schemeClr val="lt1"/>
                </a:solidFill>
              </a:rPr>
              <a:t>Cypher: Langage de requêtage</a:t>
            </a:r>
            <a:endParaRPr sz="2400" b="1">
              <a:solidFill>
                <a:schemeClr val="lt1"/>
              </a:solidFill>
            </a:endParaRPr>
          </a:p>
        </p:txBody>
      </p:sp>
      <p:sp>
        <p:nvSpPr>
          <p:cNvPr id="335" name="Google Shape;335;p48"/>
          <p:cNvSpPr txBox="1"/>
          <p:nvPr/>
        </p:nvSpPr>
        <p:spPr>
          <a:xfrm>
            <a:off x="646200" y="3371675"/>
            <a:ext cx="3673800" cy="1391400"/>
          </a:xfrm>
          <a:prstGeom prst="rect">
            <a:avLst/>
          </a:prstGeom>
          <a:solidFill>
            <a:schemeClr val="dk1"/>
          </a:solidFill>
          <a:ln>
            <a:noFill/>
          </a:ln>
        </p:spPr>
        <p:txBody>
          <a:bodyPr spcFirstLastPara="1" wrap="square" lIns="91425" tIns="91425" rIns="91425" bIns="91425" anchor="t" anchorCtr="0">
            <a:normAutofit fontScale="77500" lnSpcReduction="20000"/>
          </a:bodyPr>
          <a:lstStyle/>
          <a:p>
            <a:pPr marL="0" lvl="0" indent="0" algn="l" rtl="0">
              <a:spcBef>
                <a:spcPts val="0"/>
              </a:spcBef>
              <a:spcAft>
                <a:spcPts val="0"/>
              </a:spcAft>
              <a:buClr>
                <a:schemeClr val="dk1"/>
              </a:buClr>
              <a:buSzPct val="45833"/>
              <a:buFont typeface="Arial"/>
              <a:buNone/>
            </a:pPr>
            <a:r>
              <a:rPr lang="fr" sz="2400">
                <a:solidFill>
                  <a:srgbClr val="FF0000"/>
                </a:solidFill>
              </a:rPr>
              <a:t>MATCH (n:Person)</a:t>
            </a:r>
            <a:endParaRPr sz="2400">
              <a:solidFill>
                <a:srgbClr val="FF0000"/>
              </a:solidFill>
            </a:endParaRPr>
          </a:p>
          <a:p>
            <a:pPr marL="0" lvl="0" indent="0" algn="l" rtl="0">
              <a:spcBef>
                <a:spcPts val="0"/>
              </a:spcBef>
              <a:spcAft>
                <a:spcPts val="0"/>
              </a:spcAft>
              <a:buClr>
                <a:schemeClr val="dk1"/>
              </a:buClr>
              <a:buSzPct val="45833"/>
              <a:buFont typeface="Arial"/>
              <a:buNone/>
            </a:pPr>
            <a:r>
              <a:rPr lang="fr" sz="2400">
                <a:solidFill>
                  <a:srgbClr val="FF0000"/>
                </a:solidFill>
              </a:rPr>
              <a:t>WHERE n.name = 'Tom Hanks'</a:t>
            </a:r>
            <a:endParaRPr sz="2400">
              <a:solidFill>
                <a:srgbClr val="FF0000"/>
              </a:solidFill>
            </a:endParaRPr>
          </a:p>
          <a:p>
            <a:pPr marL="0" lvl="0" indent="0" algn="l" rtl="0">
              <a:spcBef>
                <a:spcPts val="0"/>
              </a:spcBef>
              <a:spcAft>
                <a:spcPts val="0"/>
              </a:spcAft>
              <a:buClr>
                <a:schemeClr val="dk1"/>
              </a:buClr>
              <a:buSzPct val="45833"/>
              <a:buFont typeface="Arial"/>
              <a:buNone/>
            </a:pPr>
            <a:r>
              <a:rPr lang="fr" sz="2400">
                <a:solidFill>
                  <a:srgbClr val="FF0000"/>
                </a:solidFill>
              </a:rPr>
              <a:t>RETURN n</a:t>
            </a:r>
            <a:endParaRPr sz="2400">
              <a:solidFill>
                <a:srgbClr val="FF0000"/>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endParaRPr sz="2400">
              <a:solidFill>
                <a:schemeClr val="lt1"/>
              </a:solidFill>
            </a:endParaRPr>
          </a:p>
        </p:txBody>
      </p:sp>
      <p:pic>
        <p:nvPicPr>
          <p:cNvPr id="336" name="Google Shape;336;p48"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9"/>
          <p:cNvSpPr txBox="1"/>
          <p:nvPr/>
        </p:nvSpPr>
        <p:spPr>
          <a:xfrm>
            <a:off x="2584775" y="948450"/>
            <a:ext cx="6456600" cy="7191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Lecture : OPTIONAL MATCH</a:t>
            </a:r>
            <a:endParaRPr sz="2400">
              <a:solidFill>
                <a:schemeClr val="lt1"/>
              </a:solidFill>
            </a:endParaRPr>
          </a:p>
        </p:txBody>
      </p:sp>
      <p:sp>
        <p:nvSpPr>
          <p:cNvPr id="342" name="Google Shape;342;p49"/>
          <p:cNvSpPr txBox="1"/>
          <p:nvPr/>
        </p:nvSpPr>
        <p:spPr>
          <a:xfrm>
            <a:off x="63825" y="2089700"/>
            <a:ext cx="5053500" cy="2876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Optional MATCH </a:t>
            </a:r>
            <a:endParaRPr sz="1600">
              <a:solidFill>
                <a:schemeClr val="lt1"/>
              </a:solidFill>
            </a:endParaRPr>
          </a:p>
          <a:p>
            <a:pPr marL="457200" marR="0" lvl="0" indent="-330200" algn="l" rtl="0">
              <a:lnSpc>
                <a:spcPct val="100000"/>
              </a:lnSpc>
              <a:spcBef>
                <a:spcPts val="0"/>
              </a:spcBef>
              <a:spcAft>
                <a:spcPts val="0"/>
              </a:spcAft>
              <a:buClr>
                <a:schemeClr val="lt1"/>
              </a:buClr>
              <a:buSzPts val="1600"/>
              <a:buChar char="❖"/>
            </a:pPr>
            <a:r>
              <a:rPr lang="fr" sz="1600">
                <a:solidFill>
                  <a:schemeClr val="lt1"/>
                </a:solidFill>
              </a:rPr>
              <a:t>Comme la clause match spécifie le pattern à chercher en utilisant null pour les parties absentes dans la base.</a:t>
            </a:r>
            <a:endParaRPr sz="1600">
              <a:solidFill>
                <a:schemeClr val="lt1"/>
              </a:solidFill>
            </a:endParaRPr>
          </a:p>
          <a:p>
            <a:pPr marL="0" marR="0" lvl="0" indent="0" algn="l" rtl="0">
              <a:lnSpc>
                <a:spcPct val="100000"/>
              </a:lnSpc>
              <a:spcBef>
                <a:spcPts val="0"/>
              </a:spcBef>
              <a:spcAft>
                <a:spcPts val="0"/>
              </a:spcAft>
              <a:buNone/>
            </a:pPr>
            <a:r>
              <a:rPr lang="fr" sz="1600">
                <a:solidFill>
                  <a:schemeClr val="lt1"/>
                </a:solidFill>
              </a:rPr>
              <a:t>Exemple : </a:t>
            </a:r>
            <a:endParaRPr sz="1600">
              <a:solidFill>
                <a:schemeClr val="lt1"/>
              </a:solidFill>
            </a:endParaRPr>
          </a:p>
          <a:p>
            <a:pPr marL="0" marR="0" lvl="0" indent="0" algn="l" rtl="0">
              <a:lnSpc>
                <a:spcPct val="100000"/>
              </a:lnSpc>
              <a:spcBef>
                <a:spcPts val="0"/>
              </a:spcBef>
              <a:spcAft>
                <a:spcPts val="0"/>
              </a:spcAft>
              <a:buNone/>
            </a:pPr>
            <a:endParaRPr sz="1600">
              <a:solidFill>
                <a:schemeClr val="lt1"/>
              </a:solidFill>
            </a:endParaRPr>
          </a:p>
          <a:p>
            <a:pPr marL="0" marR="0" lvl="0" indent="0" algn="l" rtl="0">
              <a:lnSpc>
                <a:spcPct val="100000"/>
              </a:lnSpc>
              <a:spcBef>
                <a:spcPts val="0"/>
              </a:spcBef>
              <a:spcAft>
                <a:spcPts val="0"/>
              </a:spcAft>
              <a:buNone/>
            </a:pPr>
            <a:endParaRPr sz="1600">
              <a:solidFill>
                <a:schemeClr val="lt1"/>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endParaRPr sz="2400">
              <a:solidFill>
                <a:schemeClr val="lt1"/>
              </a:solidFill>
            </a:endParaRPr>
          </a:p>
        </p:txBody>
      </p:sp>
      <p:sp>
        <p:nvSpPr>
          <p:cNvPr id="343" name="Google Shape;343;p49" title="Science des Données par Graphes"/>
          <p:cNvSpPr txBox="1"/>
          <p:nvPr/>
        </p:nvSpPr>
        <p:spPr>
          <a:xfrm>
            <a:off x="2741125" y="250150"/>
            <a:ext cx="6128400" cy="571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SzPts val="1100"/>
              <a:buNone/>
            </a:pPr>
            <a:r>
              <a:rPr lang="fr" sz="2400" b="1">
                <a:solidFill>
                  <a:schemeClr val="lt1"/>
                </a:solidFill>
              </a:rPr>
              <a:t>Cypher: Langage de requêtage</a:t>
            </a:r>
            <a:endParaRPr sz="2400" b="1">
              <a:solidFill>
                <a:schemeClr val="lt1"/>
              </a:solidFill>
            </a:endParaRPr>
          </a:p>
        </p:txBody>
      </p:sp>
      <p:sp>
        <p:nvSpPr>
          <p:cNvPr id="344" name="Google Shape;344;p49"/>
          <p:cNvSpPr txBox="1"/>
          <p:nvPr/>
        </p:nvSpPr>
        <p:spPr>
          <a:xfrm>
            <a:off x="646200" y="3575000"/>
            <a:ext cx="3673800" cy="1391400"/>
          </a:xfrm>
          <a:prstGeom prst="rect">
            <a:avLst/>
          </a:prstGeom>
          <a:solidFill>
            <a:schemeClr val="dk1"/>
          </a:solidFill>
          <a:ln>
            <a:noFill/>
          </a:ln>
        </p:spPr>
        <p:txBody>
          <a:bodyPr spcFirstLastPara="1" wrap="square" lIns="91425" tIns="91425" rIns="91425" bIns="91425" anchor="t" anchorCtr="0">
            <a:normAutofit fontScale="32500"/>
          </a:bodyPr>
          <a:lstStyle/>
          <a:p>
            <a:pPr marL="0" lvl="0" indent="0" algn="l" rtl="0">
              <a:spcBef>
                <a:spcPts val="0"/>
              </a:spcBef>
              <a:spcAft>
                <a:spcPts val="0"/>
              </a:spcAft>
              <a:buNone/>
            </a:pPr>
            <a:r>
              <a:rPr lang="fr" sz="4500">
                <a:solidFill>
                  <a:srgbClr val="FF0000"/>
                </a:solidFill>
              </a:rPr>
              <a:t>MATCH (p:Person {name: 'Martin Sheen'})</a:t>
            </a:r>
            <a:endParaRPr sz="4500">
              <a:solidFill>
                <a:srgbClr val="FF0000"/>
              </a:solidFill>
            </a:endParaRPr>
          </a:p>
          <a:p>
            <a:pPr marL="0" lvl="0" indent="0" algn="l" rtl="0">
              <a:spcBef>
                <a:spcPts val="0"/>
              </a:spcBef>
              <a:spcAft>
                <a:spcPts val="0"/>
              </a:spcAft>
              <a:buNone/>
            </a:pPr>
            <a:r>
              <a:rPr lang="fr" sz="4500">
                <a:solidFill>
                  <a:srgbClr val="FF0000"/>
                </a:solidFill>
              </a:rPr>
              <a:t>OPTIONAL MATCH (p)-[r:DIRECTED]-&gt;()</a:t>
            </a:r>
            <a:endParaRPr sz="4500">
              <a:solidFill>
                <a:srgbClr val="FF0000"/>
              </a:solidFill>
            </a:endParaRPr>
          </a:p>
          <a:p>
            <a:pPr marL="0" lvl="0" indent="0" algn="l" rtl="0">
              <a:spcBef>
                <a:spcPts val="0"/>
              </a:spcBef>
              <a:spcAft>
                <a:spcPts val="0"/>
              </a:spcAft>
              <a:buNone/>
            </a:pPr>
            <a:r>
              <a:rPr lang="fr" sz="4500">
                <a:solidFill>
                  <a:srgbClr val="FF0000"/>
                </a:solidFill>
              </a:rPr>
              <a:t>RETURN p.name, r</a:t>
            </a:r>
            <a:endParaRPr sz="4500">
              <a:solidFill>
                <a:srgbClr val="FF0000"/>
              </a:solidFill>
            </a:endParaRPr>
          </a:p>
          <a:p>
            <a:pPr marL="0" lvl="0" indent="0" algn="l" rtl="0">
              <a:spcBef>
                <a:spcPts val="0"/>
              </a:spcBef>
              <a:spcAft>
                <a:spcPts val="0"/>
              </a:spcAft>
              <a:buNone/>
            </a:pPr>
            <a:endParaRPr sz="2400">
              <a:solidFill>
                <a:srgbClr val="FF0000"/>
              </a:solidFill>
            </a:endParaRPr>
          </a:p>
          <a:p>
            <a:pPr marL="0" lvl="0" indent="0" algn="l" rtl="0">
              <a:spcBef>
                <a:spcPts val="0"/>
              </a:spcBef>
              <a:spcAft>
                <a:spcPts val="0"/>
              </a:spcAft>
              <a:buNone/>
            </a:pPr>
            <a:endParaRPr sz="2400">
              <a:solidFill>
                <a:srgbClr val="FF0000"/>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endParaRPr sz="2400">
              <a:solidFill>
                <a:schemeClr val="lt1"/>
              </a:solidFill>
            </a:endParaRPr>
          </a:p>
        </p:txBody>
      </p:sp>
      <p:pic>
        <p:nvPicPr>
          <p:cNvPr id="345" name="Google Shape;345;p49"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50"/>
          <p:cNvSpPr txBox="1"/>
          <p:nvPr/>
        </p:nvSpPr>
        <p:spPr>
          <a:xfrm>
            <a:off x="2584775" y="948450"/>
            <a:ext cx="6456600" cy="7191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Projection:</a:t>
            </a:r>
            <a:endParaRPr sz="2400">
              <a:solidFill>
                <a:schemeClr val="lt1"/>
              </a:solidFill>
            </a:endParaRPr>
          </a:p>
        </p:txBody>
      </p:sp>
      <p:sp>
        <p:nvSpPr>
          <p:cNvPr id="351" name="Google Shape;351;p50"/>
          <p:cNvSpPr txBox="1"/>
          <p:nvPr/>
        </p:nvSpPr>
        <p:spPr>
          <a:xfrm>
            <a:off x="63825" y="1964650"/>
            <a:ext cx="5053500" cy="3111300"/>
          </a:xfrm>
          <a:prstGeom prst="rect">
            <a:avLst/>
          </a:prstGeom>
          <a:noFill/>
          <a:ln>
            <a:noFill/>
          </a:ln>
        </p:spPr>
        <p:txBody>
          <a:bodyPr spcFirstLastPara="1" wrap="square" lIns="91425" tIns="91425" rIns="91425" bIns="91425" anchor="t" anchorCtr="0">
            <a:normAutofit/>
          </a:bodyPr>
          <a:lstStyle/>
          <a:p>
            <a:pPr marL="0" lvl="0" indent="0" algn="l" rtl="0">
              <a:lnSpc>
                <a:spcPct val="90000"/>
              </a:lnSpc>
              <a:spcBef>
                <a:spcPts val="0"/>
              </a:spcBef>
              <a:spcAft>
                <a:spcPts val="0"/>
              </a:spcAft>
              <a:buClr>
                <a:schemeClr val="dk1"/>
              </a:buClr>
              <a:buSzPts val="1100"/>
              <a:buFont typeface="Arial"/>
              <a:buNone/>
            </a:pPr>
            <a:r>
              <a:rPr lang="fr" sz="1600">
                <a:solidFill>
                  <a:schemeClr val="lt1"/>
                </a:solidFill>
              </a:rPr>
              <a:t>Les clauses de projection définissent  quelles expressions  retournées dans les résultats.</a:t>
            </a:r>
            <a:endParaRPr sz="1600">
              <a:solidFill>
                <a:schemeClr val="lt1"/>
              </a:solidFill>
            </a:endParaRPr>
          </a:p>
          <a:p>
            <a:pPr marL="0" lvl="0" indent="0" algn="l" rtl="0">
              <a:lnSpc>
                <a:spcPct val="90000"/>
              </a:lnSpc>
              <a:spcBef>
                <a:spcPts val="0"/>
              </a:spcBef>
              <a:spcAft>
                <a:spcPts val="0"/>
              </a:spcAft>
              <a:buNone/>
            </a:pPr>
            <a:r>
              <a:rPr lang="fr" sz="1600">
                <a:solidFill>
                  <a:schemeClr val="lt1"/>
                </a:solidFill>
              </a:rPr>
              <a:t>Les expressions retournées doivent tous être des alias en utilisant AS </a:t>
            </a:r>
            <a:endParaRPr sz="1600">
              <a:solidFill>
                <a:schemeClr val="lt1"/>
              </a:solidFill>
            </a:endParaRPr>
          </a:p>
          <a:p>
            <a:pPr marL="0" lvl="0" indent="0" algn="l" rtl="0">
              <a:lnSpc>
                <a:spcPct val="90000"/>
              </a:lnSpc>
              <a:spcBef>
                <a:spcPts val="0"/>
              </a:spcBef>
              <a:spcAft>
                <a:spcPts val="0"/>
              </a:spcAft>
              <a:buClr>
                <a:schemeClr val="dk1"/>
              </a:buClr>
              <a:buSzPts val="1100"/>
              <a:buFont typeface="Arial"/>
              <a:buNone/>
            </a:pPr>
            <a:r>
              <a:rPr lang="fr" sz="1600">
                <a:solidFill>
                  <a:schemeClr val="lt1"/>
                </a:solidFill>
              </a:rPr>
              <a:t>Ils sont : RETURN AS, WITH AS , UNWIND AS</a:t>
            </a:r>
            <a:endParaRPr sz="1600">
              <a:solidFill>
                <a:schemeClr val="lt1"/>
              </a:solidFill>
            </a:endParaRPr>
          </a:p>
          <a:p>
            <a:pPr marL="0" marR="0" lvl="0" indent="0" algn="l" rtl="0">
              <a:lnSpc>
                <a:spcPct val="100000"/>
              </a:lnSpc>
              <a:spcBef>
                <a:spcPts val="0"/>
              </a:spcBef>
              <a:spcAft>
                <a:spcPts val="0"/>
              </a:spcAft>
              <a:buNone/>
            </a:pPr>
            <a:r>
              <a:rPr lang="fr" sz="1600">
                <a:solidFill>
                  <a:schemeClr val="lt1"/>
                </a:solidFill>
              </a:rPr>
              <a:t>Exemple : </a:t>
            </a:r>
            <a:endParaRPr sz="1600">
              <a:solidFill>
                <a:schemeClr val="lt1"/>
              </a:solidFill>
            </a:endParaRPr>
          </a:p>
          <a:p>
            <a:pPr marL="0" marR="0" lvl="0" indent="0" algn="l" rtl="0">
              <a:lnSpc>
                <a:spcPct val="100000"/>
              </a:lnSpc>
              <a:spcBef>
                <a:spcPts val="0"/>
              </a:spcBef>
              <a:spcAft>
                <a:spcPts val="0"/>
              </a:spcAft>
              <a:buNone/>
            </a:pPr>
            <a:endParaRPr sz="1600">
              <a:solidFill>
                <a:schemeClr val="lt1"/>
              </a:solidFill>
            </a:endParaRPr>
          </a:p>
          <a:p>
            <a:pPr marL="0" marR="0" lvl="0" indent="0" algn="l" rtl="0">
              <a:lnSpc>
                <a:spcPct val="100000"/>
              </a:lnSpc>
              <a:spcBef>
                <a:spcPts val="0"/>
              </a:spcBef>
              <a:spcAft>
                <a:spcPts val="0"/>
              </a:spcAft>
              <a:buNone/>
            </a:pPr>
            <a:endParaRPr sz="1600">
              <a:solidFill>
                <a:schemeClr val="lt1"/>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endParaRPr sz="2400">
              <a:solidFill>
                <a:schemeClr val="lt1"/>
              </a:solidFill>
            </a:endParaRPr>
          </a:p>
        </p:txBody>
      </p:sp>
      <p:sp>
        <p:nvSpPr>
          <p:cNvPr id="352" name="Google Shape;352;p50" title="Science des Données par Graphes"/>
          <p:cNvSpPr txBox="1"/>
          <p:nvPr/>
        </p:nvSpPr>
        <p:spPr>
          <a:xfrm>
            <a:off x="2741125" y="250150"/>
            <a:ext cx="6128400" cy="571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SzPts val="1100"/>
              <a:buNone/>
            </a:pPr>
            <a:r>
              <a:rPr lang="fr" sz="2400" b="1">
                <a:solidFill>
                  <a:schemeClr val="lt1"/>
                </a:solidFill>
              </a:rPr>
              <a:t>Cypher: Langage de requêtage</a:t>
            </a:r>
            <a:endParaRPr sz="2400" b="1">
              <a:solidFill>
                <a:schemeClr val="lt1"/>
              </a:solidFill>
            </a:endParaRPr>
          </a:p>
        </p:txBody>
      </p:sp>
      <p:sp>
        <p:nvSpPr>
          <p:cNvPr id="353" name="Google Shape;353;p50"/>
          <p:cNvSpPr txBox="1"/>
          <p:nvPr/>
        </p:nvSpPr>
        <p:spPr>
          <a:xfrm>
            <a:off x="646200" y="3575000"/>
            <a:ext cx="3673800" cy="1391400"/>
          </a:xfrm>
          <a:prstGeom prst="rect">
            <a:avLst/>
          </a:prstGeom>
          <a:solidFill>
            <a:schemeClr val="dk1"/>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fr" sz="1200">
                <a:solidFill>
                  <a:srgbClr val="FF0000"/>
                </a:solidFill>
              </a:rPr>
              <a:t>WITH 11 AS x</a:t>
            </a:r>
            <a:endParaRPr sz="1200">
              <a:solidFill>
                <a:srgbClr val="FF0000"/>
              </a:solidFill>
            </a:endParaRPr>
          </a:p>
          <a:p>
            <a:pPr marL="0" lvl="0" indent="0" algn="l" rtl="0">
              <a:spcBef>
                <a:spcPts val="0"/>
              </a:spcBef>
              <a:spcAft>
                <a:spcPts val="0"/>
              </a:spcAft>
              <a:buClr>
                <a:schemeClr val="dk1"/>
              </a:buClr>
              <a:buSzPts val="1100"/>
              <a:buFont typeface="Arial"/>
              <a:buNone/>
            </a:pPr>
            <a:r>
              <a:rPr lang="fr" sz="1200">
                <a:solidFill>
                  <a:srgbClr val="FF0000"/>
                </a:solidFill>
              </a:rPr>
              <a:t>CALL (x) {</a:t>
            </a:r>
            <a:endParaRPr sz="1200">
              <a:solidFill>
                <a:srgbClr val="FF0000"/>
              </a:solidFill>
            </a:endParaRPr>
          </a:p>
          <a:p>
            <a:pPr marL="0" lvl="0" indent="0" algn="l" rtl="0">
              <a:spcBef>
                <a:spcPts val="0"/>
              </a:spcBef>
              <a:spcAft>
                <a:spcPts val="0"/>
              </a:spcAft>
              <a:buClr>
                <a:schemeClr val="dk1"/>
              </a:buClr>
              <a:buSzPts val="1100"/>
              <a:buFont typeface="Arial"/>
              <a:buNone/>
            </a:pPr>
            <a:r>
              <a:rPr lang="fr" sz="1200">
                <a:solidFill>
                  <a:srgbClr val="FF0000"/>
                </a:solidFill>
              </a:rPr>
              <a:t>  UNWIND [2, 3] AS y</a:t>
            </a:r>
            <a:endParaRPr sz="1200">
              <a:solidFill>
                <a:srgbClr val="FF0000"/>
              </a:solidFill>
            </a:endParaRPr>
          </a:p>
          <a:p>
            <a:pPr marL="0" lvl="0" indent="0" algn="l" rtl="0">
              <a:spcBef>
                <a:spcPts val="0"/>
              </a:spcBef>
              <a:spcAft>
                <a:spcPts val="0"/>
              </a:spcAft>
              <a:buClr>
                <a:schemeClr val="dk1"/>
              </a:buClr>
              <a:buSzPts val="1100"/>
              <a:buFont typeface="Arial"/>
              <a:buNone/>
            </a:pPr>
            <a:r>
              <a:rPr lang="fr" sz="1200">
                <a:solidFill>
                  <a:srgbClr val="FF0000"/>
                </a:solidFill>
              </a:rPr>
              <a:t>  WITH y</a:t>
            </a:r>
            <a:endParaRPr sz="1200">
              <a:solidFill>
                <a:srgbClr val="FF0000"/>
              </a:solidFill>
            </a:endParaRPr>
          </a:p>
          <a:p>
            <a:pPr marL="0" lvl="0" indent="0" algn="l" rtl="0">
              <a:spcBef>
                <a:spcPts val="0"/>
              </a:spcBef>
              <a:spcAft>
                <a:spcPts val="0"/>
              </a:spcAft>
              <a:buClr>
                <a:schemeClr val="dk1"/>
              </a:buClr>
              <a:buSzPts val="1100"/>
              <a:buFont typeface="Arial"/>
              <a:buNone/>
            </a:pPr>
            <a:r>
              <a:rPr lang="fr" sz="1200">
                <a:solidFill>
                  <a:srgbClr val="FF0000"/>
                </a:solidFill>
              </a:rPr>
              <a:t>  RETURN x*y AS a</a:t>
            </a:r>
            <a:endParaRPr sz="1200">
              <a:solidFill>
                <a:srgbClr val="FF0000"/>
              </a:solidFill>
            </a:endParaRPr>
          </a:p>
          <a:p>
            <a:pPr marL="0" lvl="0" indent="0" algn="l" rtl="0">
              <a:spcBef>
                <a:spcPts val="0"/>
              </a:spcBef>
              <a:spcAft>
                <a:spcPts val="0"/>
              </a:spcAft>
              <a:buClr>
                <a:schemeClr val="dk1"/>
              </a:buClr>
              <a:buSzPts val="1100"/>
              <a:buFont typeface="Arial"/>
              <a:buNone/>
            </a:pPr>
            <a:r>
              <a:rPr lang="fr" sz="1200">
                <a:solidFill>
                  <a:srgbClr val="FF0000"/>
                </a:solidFill>
              </a:rPr>
              <a:t>}</a:t>
            </a:r>
            <a:endParaRPr sz="1200">
              <a:solidFill>
                <a:srgbClr val="FF0000"/>
              </a:solidFill>
            </a:endParaRPr>
          </a:p>
          <a:p>
            <a:pPr marL="0" lvl="0" indent="0" algn="l" rtl="0">
              <a:spcBef>
                <a:spcPts val="0"/>
              </a:spcBef>
              <a:spcAft>
                <a:spcPts val="0"/>
              </a:spcAft>
              <a:buClr>
                <a:schemeClr val="dk1"/>
              </a:buClr>
              <a:buSzPts val="1100"/>
              <a:buFont typeface="Arial"/>
              <a:buNone/>
            </a:pPr>
            <a:r>
              <a:rPr lang="fr" sz="1200">
                <a:solidFill>
                  <a:srgbClr val="FF0000"/>
                </a:solidFill>
              </a:rPr>
              <a:t>RETURN x, a</a:t>
            </a:r>
            <a:endParaRPr sz="1200">
              <a:solidFill>
                <a:srgbClr val="FF0000"/>
              </a:solidFill>
            </a:endParaRPr>
          </a:p>
          <a:p>
            <a:pPr marL="0" lvl="0" indent="0" algn="l" rtl="0">
              <a:spcBef>
                <a:spcPts val="0"/>
              </a:spcBef>
              <a:spcAft>
                <a:spcPts val="0"/>
              </a:spcAft>
              <a:buNone/>
            </a:pPr>
            <a:endParaRPr sz="5500">
              <a:solidFill>
                <a:srgbClr val="FF0000"/>
              </a:solidFill>
            </a:endParaRPr>
          </a:p>
        </p:txBody>
      </p:sp>
      <p:pic>
        <p:nvPicPr>
          <p:cNvPr id="354" name="Google Shape;354;p50"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51"/>
          <p:cNvSpPr txBox="1"/>
          <p:nvPr/>
        </p:nvSpPr>
        <p:spPr>
          <a:xfrm>
            <a:off x="2584775" y="948450"/>
            <a:ext cx="6456600" cy="7191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Les sous clauses de lectures</a:t>
            </a:r>
            <a:endParaRPr sz="2400">
              <a:solidFill>
                <a:schemeClr val="lt1"/>
              </a:solidFill>
            </a:endParaRPr>
          </a:p>
        </p:txBody>
      </p:sp>
      <p:sp>
        <p:nvSpPr>
          <p:cNvPr id="360" name="Google Shape;360;p51"/>
          <p:cNvSpPr txBox="1"/>
          <p:nvPr/>
        </p:nvSpPr>
        <p:spPr>
          <a:xfrm>
            <a:off x="63825" y="1964650"/>
            <a:ext cx="5053500" cy="3111300"/>
          </a:xfrm>
          <a:prstGeom prst="rect">
            <a:avLst/>
          </a:prstGeom>
          <a:noFill/>
          <a:ln>
            <a:noFill/>
          </a:ln>
        </p:spPr>
        <p:txBody>
          <a:bodyPr spcFirstLastPara="1" wrap="square" lIns="91425" tIns="91425" rIns="91425" bIns="91425" anchor="t" anchorCtr="0">
            <a:normAutofit/>
          </a:bodyPr>
          <a:lstStyle/>
          <a:p>
            <a:pPr marL="0" lvl="0" indent="0" algn="l" rtl="0">
              <a:lnSpc>
                <a:spcPct val="90000"/>
              </a:lnSpc>
              <a:spcBef>
                <a:spcPts val="0"/>
              </a:spcBef>
              <a:spcAft>
                <a:spcPts val="0"/>
              </a:spcAft>
              <a:buNone/>
            </a:pPr>
            <a:r>
              <a:rPr lang="fr" sz="1600">
                <a:solidFill>
                  <a:schemeClr val="lt1"/>
                </a:solidFill>
              </a:rPr>
              <a:t>Ils sont combinés avec les clause de Lecture.</a:t>
            </a:r>
            <a:endParaRPr sz="1600">
              <a:solidFill>
                <a:schemeClr val="lt1"/>
              </a:solidFill>
            </a:endParaRPr>
          </a:p>
          <a:p>
            <a:pPr marL="0" marR="0" lvl="0" indent="0" algn="l" rtl="0">
              <a:lnSpc>
                <a:spcPct val="100000"/>
              </a:lnSpc>
              <a:spcBef>
                <a:spcPts val="0"/>
              </a:spcBef>
              <a:spcAft>
                <a:spcPts val="0"/>
              </a:spcAft>
              <a:buNone/>
            </a:pPr>
            <a:r>
              <a:rPr lang="fr" sz="1600">
                <a:solidFill>
                  <a:schemeClr val="lt1"/>
                </a:solidFill>
              </a:rPr>
              <a:t>On a :</a:t>
            </a:r>
            <a:endParaRPr sz="1600">
              <a:solidFill>
                <a:schemeClr val="lt1"/>
              </a:solidFill>
            </a:endParaRPr>
          </a:p>
          <a:p>
            <a:pPr marL="0" marR="0" lvl="0" indent="0" algn="l" rtl="0">
              <a:lnSpc>
                <a:spcPct val="100000"/>
              </a:lnSpc>
              <a:spcBef>
                <a:spcPts val="0"/>
              </a:spcBef>
              <a:spcAft>
                <a:spcPts val="0"/>
              </a:spcAft>
              <a:buNone/>
            </a:pPr>
            <a:r>
              <a:rPr lang="fr" sz="1600">
                <a:solidFill>
                  <a:schemeClr val="lt1"/>
                </a:solidFill>
              </a:rPr>
              <a:t>WHERE, ORDER BY, SKIP , LIMIT</a:t>
            </a:r>
            <a:endParaRPr sz="1600">
              <a:solidFill>
                <a:schemeClr val="lt1"/>
              </a:solidFill>
            </a:endParaRPr>
          </a:p>
          <a:p>
            <a:pPr marL="0" marR="0" lvl="0" indent="0" algn="l" rtl="0">
              <a:lnSpc>
                <a:spcPct val="100000"/>
              </a:lnSpc>
              <a:spcBef>
                <a:spcPts val="0"/>
              </a:spcBef>
              <a:spcAft>
                <a:spcPts val="0"/>
              </a:spcAft>
              <a:buNone/>
            </a:pPr>
            <a:endParaRPr sz="1600">
              <a:solidFill>
                <a:schemeClr val="lt1"/>
              </a:solidFill>
            </a:endParaRPr>
          </a:p>
          <a:p>
            <a:pPr marL="0" marR="0" lvl="0" indent="0" algn="l" rtl="0">
              <a:lnSpc>
                <a:spcPct val="100000"/>
              </a:lnSpc>
              <a:spcBef>
                <a:spcPts val="0"/>
              </a:spcBef>
              <a:spcAft>
                <a:spcPts val="0"/>
              </a:spcAft>
              <a:buNone/>
            </a:pPr>
            <a:r>
              <a:rPr lang="fr" sz="1600">
                <a:solidFill>
                  <a:schemeClr val="lt1"/>
                </a:solidFill>
              </a:rPr>
              <a:t>Exemple :</a:t>
            </a:r>
            <a:endParaRPr sz="1600">
              <a:solidFill>
                <a:schemeClr val="lt1"/>
              </a:solidFill>
            </a:endParaRPr>
          </a:p>
          <a:p>
            <a:pPr marL="0" marR="0" lvl="0" indent="0" algn="l" rtl="0">
              <a:lnSpc>
                <a:spcPct val="100000"/>
              </a:lnSpc>
              <a:spcBef>
                <a:spcPts val="0"/>
              </a:spcBef>
              <a:spcAft>
                <a:spcPts val="0"/>
              </a:spcAft>
              <a:buNone/>
            </a:pPr>
            <a:endParaRPr sz="1600">
              <a:solidFill>
                <a:schemeClr val="lt1"/>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endParaRPr sz="2400">
              <a:solidFill>
                <a:schemeClr val="lt1"/>
              </a:solidFill>
            </a:endParaRPr>
          </a:p>
        </p:txBody>
      </p:sp>
      <p:sp>
        <p:nvSpPr>
          <p:cNvPr id="361" name="Google Shape;361;p51" title="Science des Données par Graphes"/>
          <p:cNvSpPr txBox="1"/>
          <p:nvPr/>
        </p:nvSpPr>
        <p:spPr>
          <a:xfrm>
            <a:off x="2741125" y="250150"/>
            <a:ext cx="6128400" cy="571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SzPts val="1100"/>
              <a:buNone/>
            </a:pPr>
            <a:r>
              <a:rPr lang="fr" sz="2400" b="1">
                <a:solidFill>
                  <a:schemeClr val="lt1"/>
                </a:solidFill>
              </a:rPr>
              <a:t>Cypher: Langage de requêtage</a:t>
            </a:r>
            <a:endParaRPr sz="2400" b="1">
              <a:solidFill>
                <a:schemeClr val="lt1"/>
              </a:solidFill>
            </a:endParaRPr>
          </a:p>
        </p:txBody>
      </p:sp>
      <p:sp>
        <p:nvSpPr>
          <p:cNvPr id="362" name="Google Shape;362;p51"/>
          <p:cNvSpPr txBox="1"/>
          <p:nvPr/>
        </p:nvSpPr>
        <p:spPr>
          <a:xfrm>
            <a:off x="145925" y="3230975"/>
            <a:ext cx="4174200" cy="1735500"/>
          </a:xfrm>
          <a:prstGeom prst="rect">
            <a:avLst/>
          </a:prstGeom>
          <a:solidFill>
            <a:schemeClr val="dk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a:solidFill>
                  <a:srgbClr val="FF0000"/>
                </a:solidFill>
              </a:rPr>
              <a:t>MATCH (u:User)-[r:RATED]-&gt;(m:Movie)</a:t>
            </a:r>
            <a:endParaRPr sz="1800">
              <a:solidFill>
                <a:srgbClr val="FF0000"/>
              </a:solidFill>
            </a:endParaRPr>
          </a:p>
          <a:p>
            <a:pPr marL="0" lvl="0" indent="0" algn="l" rtl="0">
              <a:spcBef>
                <a:spcPts val="0"/>
              </a:spcBef>
              <a:spcAft>
                <a:spcPts val="0"/>
              </a:spcAft>
              <a:buNone/>
            </a:pPr>
            <a:r>
              <a:rPr lang="fr" sz="1800">
                <a:solidFill>
                  <a:srgbClr val="FF0000"/>
                </a:solidFill>
              </a:rPr>
              <a:t>WHERE u.name = "Mr. Jason Love"</a:t>
            </a:r>
            <a:endParaRPr sz="1800">
              <a:solidFill>
                <a:srgbClr val="FF0000"/>
              </a:solidFill>
            </a:endParaRPr>
          </a:p>
          <a:p>
            <a:pPr marL="0" lvl="0" indent="0" algn="l" rtl="0">
              <a:spcBef>
                <a:spcPts val="0"/>
              </a:spcBef>
              <a:spcAft>
                <a:spcPts val="0"/>
              </a:spcAft>
              <a:buNone/>
            </a:pPr>
            <a:r>
              <a:rPr lang="fr" sz="1800">
                <a:solidFill>
                  <a:srgbClr val="FF0000"/>
                </a:solidFill>
              </a:rPr>
              <a:t>RETURN u.name, r.rating, m.title ORDER BY r.rating DESC limit 2</a:t>
            </a:r>
            <a:endParaRPr sz="1800">
              <a:solidFill>
                <a:srgbClr val="FF0000"/>
              </a:solidFill>
            </a:endParaRPr>
          </a:p>
          <a:p>
            <a:pPr marL="0" lvl="0" indent="0" algn="l" rtl="0">
              <a:spcBef>
                <a:spcPts val="0"/>
              </a:spcBef>
              <a:spcAft>
                <a:spcPts val="0"/>
              </a:spcAft>
              <a:buNone/>
            </a:pPr>
            <a:endParaRPr sz="1200">
              <a:solidFill>
                <a:srgbClr val="FF0000"/>
              </a:solidFill>
            </a:endParaRPr>
          </a:p>
          <a:p>
            <a:pPr marL="0" lvl="0" indent="0" algn="l" rtl="0">
              <a:spcBef>
                <a:spcPts val="0"/>
              </a:spcBef>
              <a:spcAft>
                <a:spcPts val="0"/>
              </a:spcAft>
              <a:buNone/>
            </a:pPr>
            <a:endParaRPr sz="5500">
              <a:solidFill>
                <a:srgbClr val="FF0000"/>
              </a:solidFill>
            </a:endParaRPr>
          </a:p>
        </p:txBody>
      </p:sp>
      <p:pic>
        <p:nvPicPr>
          <p:cNvPr id="363" name="Google Shape;363;p51"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2"/>
          <p:cNvSpPr txBox="1"/>
          <p:nvPr/>
        </p:nvSpPr>
        <p:spPr>
          <a:xfrm>
            <a:off x="2584775" y="948450"/>
            <a:ext cx="6456600" cy="7191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fr" sz="2400">
                <a:solidFill>
                  <a:schemeClr val="lt1"/>
                </a:solidFill>
              </a:rPr>
              <a:t>Ecriture : </a:t>
            </a:r>
            <a:endParaRPr sz="2400">
              <a:solidFill>
                <a:schemeClr val="lt1"/>
              </a:solidFill>
            </a:endParaRPr>
          </a:p>
        </p:txBody>
      </p:sp>
      <p:sp>
        <p:nvSpPr>
          <p:cNvPr id="369" name="Google Shape;369;p52"/>
          <p:cNvSpPr txBox="1"/>
          <p:nvPr/>
        </p:nvSpPr>
        <p:spPr>
          <a:xfrm>
            <a:off x="63825" y="1964650"/>
            <a:ext cx="5053500" cy="28452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90000"/>
              </a:lnSpc>
              <a:spcBef>
                <a:spcPts val="0"/>
              </a:spcBef>
              <a:spcAft>
                <a:spcPts val="0"/>
              </a:spcAft>
              <a:buNone/>
            </a:pPr>
            <a:r>
              <a:rPr lang="fr" sz="4000">
                <a:solidFill>
                  <a:schemeClr val="lt1"/>
                </a:solidFill>
              </a:rPr>
              <a:t>Ils permettent de créer ou modifier la data .</a:t>
            </a:r>
            <a:endParaRPr sz="4000">
              <a:solidFill>
                <a:schemeClr val="lt1"/>
              </a:solidFill>
            </a:endParaRPr>
          </a:p>
          <a:p>
            <a:pPr marL="0" lvl="0" indent="0" algn="l" rtl="0">
              <a:spcBef>
                <a:spcPts val="0"/>
              </a:spcBef>
              <a:spcAft>
                <a:spcPts val="0"/>
              </a:spcAft>
              <a:buNone/>
            </a:pPr>
            <a:r>
              <a:rPr lang="fr" sz="4000">
                <a:solidFill>
                  <a:schemeClr val="lt1"/>
                </a:solidFill>
              </a:rPr>
              <a:t>On a : </a:t>
            </a:r>
            <a:endParaRPr sz="4000">
              <a:solidFill>
                <a:schemeClr val="lt1"/>
              </a:solidFill>
            </a:endParaRPr>
          </a:p>
          <a:p>
            <a:pPr marL="0" lvl="0" indent="0" algn="l" rtl="0">
              <a:spcBef>
                <a:spcPts val="0"/>
              </a:spcBef>
              <a:spcAft>
                <a:spcPts val="0"/>
              </a:spcAft>
              <a:buNone/>
            </a:pPr>
            <a:endParaRPr sz="4000">
              <a:solidFill>
                <a:schemeClr val="lt1"/>
              </a:solidFill>
            </a:endParaRPr>
          </a:p>
          <a:p>
            <a:pPr marL="0" lvl="0" indent="0" algn="l" rtl="0">
              <a:spcBef>
                <a:spcPts val="0"/>
              </a:spcBef>
              <a:spcAft>
                <a:spcPts val="0"/>
              </a:spcAft>
              <a:buNone/>
            </a:pPr>
            <a:r>
              <a:rPr lang="fr" sz="4000">
                <a:solidFill>
                  <a:schemeClr val="lt1"/>
                </a:solidFill>
              </a:rPr>
              <a:t>CREATE: Permet de créer les Nodes et les RelationShips</a:t>
            </a:r>
            <a:endParaRPr sz="4000">
              <a:solidFill>
                <a:schemeClr val="lt1"/>
              </a:solidFill>
            </a:endParaRPr>
          </a:p>
          <a:p>
            <a:pPr marL="0" lvl="0" indent="0" algn="l" rtl="0">
              <a:spcBef>
                <a:spcPts val="0"/>
              </a:spcBef>
              <a:spcAft>
                <a:spcPts val="0"/>
              </a:spcAft>
              <a:buNone/>
            </a:pPr>
            <a:endParaRPr sz="4000">
              <a:solidFill>
                <a:schemeClr val="lt1"/>
              </a:solidFill>
            </a:endParaRPr>
          </a:p>
          <a:p>
            <a:pPr marL="0" lvl="0" indent="0" algn="l" rtl="0">
              <a:spcBef>
                <a:spcPts val="0"/>
              </a:spcBef>
              <a:spcAft>
                <a:spcPts val="0"/>
              </a:spcAft>
              <a:buNone/>
            </a:pPr>
            <a:r>
              <a:rPr lang="fr" sz="4000">
                <a:solidFill>
                  <a:schemeClr val="lt1"/>
                </a:solidFill>
              </a:rPr>
              <a:t>MERGE: Comme le CREATE mais vérifie  l’existence du Node ou de la Relation. </a:t>
            </a:r>
            <a:endParaRPr sz="4000">
              <a:solidFill>
                <a:schemeClr val="lt1"/>
              </a:solidFill>
            </a:endParaRPr>
          </a:p>
          <a:p>
            <a:pPr marL="0" lvl="0" indent="0" algn="l" rtl="0">
              <a:spcBef>
                <a:spcPts val="0"/>
              </a:spcBef>
              <a:spcAft>
                <a:spcPts val="0"/>
              </a:spcAft>
              <a:buNone/>
            </a:pPr>
            <a:r>
              <a:rPr lang="fr" sz="4000">
                <a:solidFill>
                  <a:schemeClr val="lt1"/>
                </a:solidFill>
              </a:rPr>
              <a:t>Si le Noeud existe il fait rien sinon il crée . C’est une combinaison de Match  et Create. Il peut être associé  avec :</a:t>
            </a:r>
            <a:endParaRPr sz="4000">
              <a:solidFill>
                <a:schemeClr val="lt1"/>
              </a:solidFill>
            </a:endParaRPr>
          </a:p>
          <a:p>
            <a:pPr marL="0" lvl="0" indent="0" algn="l" rtl="0">
              <a:spcBef>
                <a:spcPts val="0"/>
              </a:spcBef>
              <a:spcAft>
                <a:spcPts val="0"/>
              </a:spcAft>
              <a:buNone/>
            </a:pPr>
            <a:endParaRPr sz="4000">
              <a:solidFill>
                <a:schemeClr val="lt1"/>
              </a:solidFill>
            </a:endParaRPr>
          </a:p>
          <a:p>
            <a:pPr marL="457200" lvl="0" indent="-292100" algn="l" rtl="0">
              <a:spcBef>
                <a:spcPts val="0"/>
              </a:spcBef>
              <a:spcAft>
                <a:spcPts val="0"/>
              </a:spcAft>
              <a:buClr>
                <a:schemeClr val="lt1"/>
              </a:buClr>
              <a:buSzPct val="100000"/>
              <a:buChar char="●"/>
            </a:pPr>
            <a:r>
              <a:rPr lang="fr" sz="4000">
                <a:solidFill>
                  <a:schemeClr val="lt1"/>
                </a:solidFill>
              </a:rPr>
              <a:t>ON MATCH  : Définit ce qu’il faut faire en cas de MATCH </a:t>
            </a:r>
            <a:endParaRPr sz="4000">
              <a:solidFill>
                <a:schemeClr val="lt1"/>
              </a:solidFill>
            </a:endParaRPr>
          </a:p>
          <a:p>
            <a:pPr marL="457200" lvl="0" indent="-292100" algn="l" rtl="0">
              <a:spcBef>
                <a:spcPts val="0"/>
              </a:spcBef>
              <a:spcAft>
                <a:spcPts val="0"/>
              </a:spcAft>
              <a:buClr>
                <a:schemeClr val="lt1"/>
              </a:buClr>
              <a:buSzPct val="100000"/>
              <a:buChar char="●"/>
            </a:pPr>
            <a:r>
              <a:rPr lang="fr" sz="4000">
                <a:solidFill>
                  <a:schemeClr val="lt1"/>
                </a:solidFill>
              </a:rPr>
              <a:t>ON CREATE : Définit ce qu’il faut faire en cas de CREATE</a:t>
            </a:r>
            <a:endParaRPr sz="4000">
              <a:solidFill>
                <a:schemeClr val="lt1"/>
              </a:solidFill>
            </a:endParaRPr>
          </a:p>
          <a:p>
            <a:pPr marL="0" lvl="0" indent="0" algn="l" rtl="0">
              <a:spcBef>
                <a:spcPts val="0"/>
              </a:spcBef>
              <a:spcAft>
                <a:spcPts val="0"/>
              </a:spcAft>
              <a:buNone/>
            </a:pPr>
            <a:endParaRPr sz="4000">
              <a:solidFill>
                <a:schemeClr val="lt1"/>
              </a:solidFill>
            </a:endParaRPr>
          </a:p>
          <a:p>
            <a:pPr marL="0" lvl="0" indent="0" algn="l" rtl="0">
              <a:spcBef>
                <a:spcPts val="0"/>
              </a:spcBef>
              <a:spcAft>
                <a:spcPts val="0"/>
              </a:spcAft>
              <a:buNone/>
            </a:pPr>
            <a:endParaRPr sz="4000">
              <a:solidFill>
                <a:schemeClr val="lt1"/>
              </a:solidFill>
            </a:endParaRPr>
          </a:p>
          <a:p>
            <a:pPr marL="0" lvl="0" indent="0" algn="l" rtl="0">
              <a:spcBef>
                <a:spcPts val="0"/>
              </a:spcBef>
              <a:spcAft>
                <a:spcPts val="0"/>
              </a:spcAft>
              <a:buNone/>
            </a:pPr>
            <a:r>
              <a:rPr lang="fr" sz="4000">
                <a:solidFill>
                  <a:schemeClr val="lt1"/>
                </a:solidFill>
              </a:rPr>
              <a:t>DELETE : Supprime les Nodes et Relationships ou paths</a:t>
            </a:r>
            <a:endParaRPr sz="4000">
              <a:solidFill>
                <a:schemeClr val="lt1"/>
              </a:solidFill>
            </a:endParaRPr>
          </a:p>
          <a:p>
            <a:pPr marL="0" lvl="0" indent="0" algn="l" rtl="0">
              <a:spcBef>
                <a:spcPts val="0"/>
              </a:spcBef>
              <a:spcAft>
                <a:spcPts val="0"/>
              </a:spcAft>
              <a:buNone/>
            </a:pPr>
            <a:endParaRPr sz="4000">
              <a:solidFill>
                <a:schemeClr val="lt1"/>
              </a:solidFill>
            </a:endParaRPr>
          </a:p>
          <a:p>
            <a:pPr marL="0" lvl="0" indent="0" algn="l" rtl="0">
              <a:spcBef>
                <a:spcPts val="0"/>
              </a:spcBef>
              <a:spcAft>
                <a:spcPts val="0"/>
              </a:spcAft>
              <a:buNone/>
            </a:pPr>
            <a:r>
              <a:rPr lang="fr" sz="4000">
                <a:solidFill>
                  <a:schemeClr val="lt1"/>
                </a:solidFill>
              </a:rPr>
              <a:t>DETACH DELETE : Permet de supprimer les Noded et  leur Relations d’un coup.</a:t>
            </a:r>
            <a:endParaRPr sz="4000">
              <a:solidFill>
                <a:schemeClr val="lt1"/>
              </a:solidFill>
            </a:endParaRPr>
          </a:p>
          <a:p>
            <a:pPr marL="0" lvl="0" indent="0" algn="l" rtl="0">
              <a:spcBef>
                <a:spcPts val="0"/>
              </a:spcBef>
              <a:spcAft>
                <a:spcPts val="0"/>
              </a:spcAft>
              <a:buNone/>
            </a:pPr>
            <a:endParaRPr sz="4000">
              <a:solidFill>
                <a:schemeClr val="lt1"/>
              </a:solidFill>
            </a:endParaRPr>
          </a:p>
          <a:p>
            <a:pPr marL="0" lvl="0" indent="0" algn="l" rtl="0">
              <a:spcBef>
                <a:spcPts val="0"/>
              </a:spcBef>
              <a:spcAft>
                <a:spcPts val="0"/>
              </a:spcAft>
              <a:buNone/>
            </a:pPr>
            <a:r>
              <a:rPr lang="fr" sz="4000">
                <a:solidFill>
                  <a:schemeClr val="lt1"/>
                </a:solidFill>
              </a:rPr>
              <a:t>REMOVE : Supprime es Labels et properties </a:t>
            </a:r>
            <a:endParaRPr sz="4000">
              <a:solidFill>
                <a:schemeClr val="lt1"/>
              </a:solidFill>
            </a:endParaRPr>
          </a:p>
          <a:p>
            <a:pPr marL="0" lvl="0" indent="0" algn="l" rtl="0">
              <a:spcBef>
                <a:spcPts val="0"/>
              </a:spcBef>
              <a:spcAft>
                <a:spcPts val="0"/>
              </a:spcAft>
              <a:buNone/>
            </a:pPr>
            <a:endParaRPr sz="4000">
              <a:solidFill>
                <a:schemeClr val="lt1"/>
              </a:solidFill>
            </a:endParaRPr>
          </a:p>
          <a:p>
            <a:pPr marL="0" lvl="0" indent="0" algn="l" rtl="0">
              <a:spcBef>
                <a:spcPts val="0"/>
              </a:spcBef>
              <a:spcAft>
                <a:spcPts val="0"/>
              </a:spcAft>
              <a:buNone/>
            </a:pPr>
            <a:r>
              <a:rPr lang="fr" sz="4000">
                <a:solidFill>
                  <a:schemeClr val="lt1"/>
                </a:solidFill>
              </a:rPr>
              <a:t>SET : Update les Labels et properties </a:t>
            </a:r>
            <a:endParaRPr sz="4000">
              <a:solidFill>
                <a:schemeClr val="lt1"/>
              </a:solidFill>
            </a:endParaRPr>
          </a:p>
          <a:p>
            <a:pPr marL="0" marR="0" lvl="0" indent="0" algn="l" rtl="0">
              <a:lnSpc>
                <a:spcPct val="100000"/>
              </a:lnSpc>
              <a:spcBef>
                <a:spcPts val="0"/>
              </a:spcBef>
              <a:spcAft>
                <a:spcPts val="0"/>
              </a:spcAft>
              <a:buNone/>
            </a:pPr>
            <a:endParaRPr sz="1600">
              <a:solidFill>
                <a:schemeClr val="lt1"/>
              </a:solidFill>
            </a:endParaRPr>
          </a:p>
          <a:p>
            <a:pPr marL="0" marR="0" lvl="0" indent="0" algn="l" rtl="0">
              <a:lnSpc>
                <a:spcPct val="100000"/>
              </a:lnSpc>
              <a:spcBef>
                <a:spcPts val="0"/>
              </a:spcBef>
              <a:spcAft>
                <a:spcPts val="0"/>
              </a:spcAft>
              <a:buNone/>
            </a:pPr>
            <a:endParaRPr sz="1600">
              <a:solidFill>
                <a:schemeClr val="lt1"/>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endParaRPr sz="2400">
              <a:solidFill>
                <a:schemeClr val="lt1"/>
              </a:solidFill>
            </a:endParaRPr>
          </a:p>
        </p:txBody>
      </p:sp>
      <p:sp>
        <p:nvSpPr>
          <p:cNvPr id="370" name="Google Shape;370;p52" title="Science des Données par Graphes"/>
          <p:cNvSpPr txBox="1"/>
          <p:nvPr/>
        </p:nvSpPr>
        <p:spPr>
          <a:xfrm>
            <a:off x="2741125" y="250150"/>
            <a:ext cx="6128400" cy="571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SzPts val="1100"/>
              <a:buNone/>
            </a:pPr>
            <a:r>
              <a:rPr lang="fr" sz="2400" b="1">
                <a:solidFill>
                  <a:schemeClr val="lt1"/>
                </a:solidFill>
              </a:rPr>
              <a:t>Cypher: Langage de requêtage</a:t>
            </a:r>
            <a:endParaRPr sz="2400" b="1">
              <a:solidFill>
                <a:schemeClr val="lt1"/>
              </a:solidFill>
            </a:endParaRPr>
          </a:p>
        </p:txBody>
      </p:sp>
      <p:pic>
        <p:nvPicPr>
          <p:cNvPr id="371" name="Google Shape;371;p52" descr="Logo de Sorbonne Data Analytics"/>
          <p:cNvPicPr preferRelativeResize="0"/>
          <p:nvPr/>
        </p:nvPicPr>
        <p:blipFill rotWithShape="1">
          <a:blip r:embed="rId3">
            <a:alphaModFix/>
          </a:blip>
          <a:srcRect/>
          <a:stretch/>
        </p:blipFill>
        <p:spPr>
          <a:xfrm>
            <a:off x="7962775" y="0"/>
            <a:ext cx="1181225" cy="11812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53"/>
          <p:cNvSpPr txBox="1"/>
          <p:nvPr/>
        </p:nvSpPr>
        <p:spPr>
          <a:xfrm>
            <a:off x="1959425" y="1855225"/>
            <a:ext cx="5081100" cy="1078800"/>
          </a:xfrm>
          <a:prstGeom prst="rect">
            <a:avLst/>
          </a:prstGeom>
          <a:noFill/>
          <a:ln>
            <a:noFill/>
          </a:ln>
        </p:spPr>
        <p:txBody>
          <a:bodyPr spcFirstLastPara="1" wrap="square" lIns="91425" tIns="91425" rIns="91425" bIns="91425" anchor="t" anchorCtr="0">
            <a:normAutofit fontScale="62500" lnSpcReduction="20000"/>
          </a:bodyPr>
          <a:lstStyle/>
          <a:p>
            <a:pPr marL="1371600" marR="0" lvl="0" indent="0" algn="l" rtl="0">
              <a:lnSpc>
                <a:spcPct val="100000"/>
              </a:lnSpc>
              <a:spcBef>
                <a:spcPts val="0"/>
              </a:spcBef>
              <a:spcAft>
                <a:spcPts val="0"/>
              </a:spcAft>
              <a:buNone/>
            </a:pPr>
            <a:r>
              <a:rPr lang="fr" sz="5306">
                <a:solidFill>
                  <a:schemeClr val="lt1"/>
                </a:solidFill>
              </a:rPr>
              <a:t>Cas pratiques</a:t>
            </a:r>
            <a:endParaRPr sz="5306">
              <a:solidFill>
                <a:schemeClr val="lt1"/>
              </a:solidFill>
            </a:endParaRPr>
          </a:p>
          <a:p>
            <a:pPr marL="0" marR="0" lvl="0" indent="0" algn="l" rtl="0">
              <a:lnSpc>
                <a:spcPct val="100000"/>
              </a:lnSpc>
              <a:spcBef>
                <a:spcPts val="0"/>
              </a:spcBef>
              <a:spcAft>
                <a:spcPts val="0"/>
              </a:spcAft>
              <a:buNone/>
            </a:pPr>
            <a:endParaRPr sz="1600">
              <a:solidFill>
                <a:schemeClr val="lt1"/>
              </a:solidFill>
            </a:endParaRPr>
          </a:p>
          <a:p>
            <a:pPr marL="0" lvl="0" indent="0" algn="l" rtl="0">
              <a:spcBef>
                <a:spcPts val="0"/>
              </a:spcBef>
              <a:spcAft>
                <a:spcPts val="0"/>
              </a:spcAft>
              <a:buNone/>
            </a:pPr>
            <a:endParaRPr sz="2400">
              <a:solidFill>
                <a:schemeClr val="lt1"/>
              </a:solidFill>
            </a:endParaRPr>
          </a:p>
          <a:p>
            <a:pPr marL="0" lvl="0" indent="0" algn="l" rtl="0">
              <a:spcBef>
                <a:spcPts val="0"/>
              </a:spcBef>
              <a:spcAft>
                <a:spcPts val="0"/>
              </a:spcAft>
              <a:buNone/>
            </a:pPr>
            <a:endParaRPr sz="2400">
              <a:solidFill>
                <a:schemeClr val="lt1"/>
              </a:solidFill>
            </a:endParaRPr>
          </a:p>
        </p:txBody>
      </p:sp>
      <p:sp>
        <p:nvSpPr>
          <p:cNvPr id="377" name="Google Shape;377;p53" title="Science des Données par Graphes"/>
          <p:cNvSpPr txBox="1"/>
          <p:nvPr/>
        </p:nvSpPr>
        <p:spPr>
          <a:xfrm>
            <a:off x="2741125" y="250150"/>
            <a:ext cx="6128400" cy="5715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SzPts val="1100"/>
              <a:buNone/>
            </a:pPr>
            <a:r>
              <a:rPr lang="fr" sz="2400" b="1">
                <a:solidFill>
                  <a:schemeClr val="lt1"/>
                </a:solidFill>
              </a:rPr>
              <a:t>Cypher: Langage de requêtage</a:t>
            </a:r>
            <a:endParaRPr sz="2400" b="1">
              <a:solidFill>
                <a:schemeClr val="lt1"/>
              </a:solidFill>
            </a:endParaRPr>
          </a:p>
        </p:txBody>
      </p:sp>
      <p:pic>
        <p:nvPicPr>
          <p:cNvPr id="378" name="Google Shape;378;p53" descr="Logo de Sorbonne Data Analytics"/>
          <p:cNvPicPr preferRelativeResize="0"/>
          <p:nvPr/>
        </p:nvPicPr>
        <p:blipFill rotWithShape="1">
          <a:blip r:embed="rId3">
            <a:alphaModFix/>
          </a:blip>
          <a:srcRect/>
          <a:stretch/>
        </p:blipFill>
        <p:spPr>
          <a:xfrm>
            <a:off x="7962775" y="-54725"/>
            <a:ext cx="1181225" cy="118122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1884</Words>
  <Application>Microsoft Office PowerPoint</Application>
  <PresentationFormat>Affichage à l'écran (16:9)</PresentationFormat>
  <Paragraphs>246</Paragraphs>
  <Slides>41</Slides>
  <Notes>41</Notes>
  <HiddenSlides>0</HiddenSlides>
  <MMClips>0</MMClips>
  <ScaleCrop>false</ScaleCrop>
  <HeadingPairs>
    <vt:vector size="4" baseType="variant">
      <vt:variant>
        <vt:lpstr>Thème</vt:lpstr>
      </vt:variant>
      <vt:variant>
        <vt:i4>1</vt:i4>
      </vt:variant>
      <vt:variant>
        <vt:lpstr>Titres des diapositives</vt:lpstr>
      </vt:variant>
      <vt:variant>
        <vt:i4>41</vt:i4>
      </vt:variant>
    </vt:vector>
  </HeadingPairs>
  <TitlesOfParts>
    <vt:vector size="42" baseType="lpstr">
      <vt:lpstr>Simple Light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Damien</dc:creator>
  <cp:lastModifiedBy>Damien</cp:lastModifiedBy>
  <cp:revision>1</cp:revision>
  <dcterms:modified xsi:type="dcterms:W3CDTF">2025-12-01T17:58:22Z</dcterms:modified>
</cp:coreProperties>
</file>